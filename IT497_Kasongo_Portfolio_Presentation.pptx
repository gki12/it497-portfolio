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06be28f-a705-9881-08e0-1f30b2f7b9f2}">
          <p14:sldIdLst>
            <p14:sldId id="256"/>
          </p14:sldIdLst>
        </p14:section>
        <p14:section name="Where I started" id="{8f00593b-f5a3-fc26-ac27-fb7c0a95166c}">
          <p14:sldIdLst>
            <p14:sldId id="257"/>
          </p14:sldIdLst>
        </p14:section>
        <p14:section name="Spiritual Progression" id="{7aa2c2e1-ac24-1ced-9669-982bfa5c9589}">
          <p14:sldIdLst>
            <p14:sldId id="258"/>
            <p14:sldId id="259"/>
          </p14:sldIdLst>
        </p14:section>
        <p14:section name="Professional Growth" id="{ee272f93-23f6-a213-50e2-c6fb6bbf627a}">
          <p14:sldIdLst>
            <p14:sldId id="260"/>
            <p14:sldId id="261"/>
            <p14:sldId id="262"/>
            <p14:sldId id="263"/>
          </p14:sldIdLst>
        </p14:section>
        <p14:section name="Alignment" id="{89427ebc-b6a5-c2b1-c6db-e6f254970742}">
          <p14:sldIdLst>
            <p14:sldId id="264"/>
            <p14:sldId id="265"/>
            <p14:sldId id="266"/>
          </p14:sldIdLst>
        </p14:section>
        <p14:section name="Looking ahead" id="{2b68b100-1b64-2543-f2bb-259f0a723197}">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8232B"/>
                </a:solidFill>
                <a:latin typeface="+mn-lt"/>
              </a:defRPr>
            </a:pPr>
            <a:r>
              <a:rPr sz="1400" b="0" i="0" u="none" strike="noStrike">
                <a:solidFill>
                  <a:srgbClr val="18232B"/>
                </a:solidFill>
                <a:latin typeface="+mn-lt"/>
              </a:rPr>
              <a:t>Accessibility scan (axe-core, phone view)</a:t>
            </a:r>
          </a:p>
        </c:rich>
      </c:tx>
      <c:layout/>
      <c:overlay val="0"/>
    </c:title>
    <c:autoTitleDeleted val="0"/>
    <c:plotArea>
      <c:layout/>
      <c:barChart>
        <c:barDir val="col"/>
        <c:grouping val="clustered"/>
        <c:varyColors val="0"/>
        <c:ser>
          <c:idx val="0"/>
          <c:order val="0"/>
          <c:tx>
            <c:strRef>
              <c:f>Sheet1!$B$1</c:f>
              <c:strCache>
                <c:ptCount val="1"/>
                <c:pt idx="0">
                  <c:v>Failing elements</c:v>
                </c:pt>
              </c:strCache>
            </c:strRef>
          </c:tx>
          <c:spPr>
            <a:solidFill>
              <a:srgbClr val="7A3F6C"/>
            </a:solidFill>
            <a:effectLst/>
          </c:spPr>
          <c:invertIfNegative val="0"/>
          <c:dLbls>
            <c:numFmt formatCode="#,##0" sourceLinked="0"/>
            <c:txPr>
              <a:bodyPr/>
              <a:lstStyle/>
              <a:p>
                <a:pPr>
                  <a:defRPr b="0" i="0" strike="noStrike" sz="1400" u="none">
                    <a:solidFill>
                      <a:srgbClr val="18232B"/>
                    </a:solidFill>
                    <a:latin typeface="+mn-lt"/>
                  </a:defRPr>
                </a:pPr>
              </a:p>
            </c:txPr>
            <c:showLegendKey val="0"/>
            <c:showVal val="1"/>
            <c:showCatName val="0"/>
            <c:showSerName val="0"/>
            <c:showPercent val="0"/>
            <c:showBubbleSize val="0"/>
            <c:showLeaderLines val="0"/>
          </c:dLbls>
          <c:cat>
            <c:multiLvlStrRef>
              <c:f>Sheet1!$A$2:$A$3</c:f>
              <c:multiLvlStrCache>
                <c:ptCount val="2"/>
                <c:lvl>
                  <c:pt idx="0">
                    <c:v>Before (Week 4)</c:v>
                  </c:pt>
                  <c:pt idx="1">
                    <c:v>After (Week 5)</c:v>
                  </c:pt>
                </c:lvl>
              </c:multiLvlStrCache>
            </c:multiLvlStrRef>
          </c:cat>
          <c:val>
            <c:numRef>
              <c:f>Sheet1!$B$2:$B$3</c:f>
              <c:numCache>
                <c:formatCode>General</c:formatCode>
                <c:ptCount val="2"/>
                <c:pt idx="0">
                  <c:v>72</c:v>
                </c:pt>
                <c:pt idx="1">
                  <c:v>0</c:v>
                </c:pt>
              </c:numCache>
            </c:numRef>
          </c:val>
        </c:ser>
        <c:dLbls>
          <c:numFmt formatCode="#,##0" sourceLinked="0"/>
          <c:txPr>
            <a:bodyPr/>
            <a:lstStyle/>
            <a:p>
              <a:pPr>
                <a:defRPr b="0" i="0" strike="noStrike" sz="1400" u="none">
                  <a:solidFill>
                    <a:srgbClr val="1823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46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C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46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myself: network and systems administrator, IT 497 capstone. The title comes from Elder Bednar (2018): separate strands twisted together become one strong rope. That is the story of this portfolio: my faith, my skills, and my character becoming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my starting goals. I want to be honest at the end about which ones I met. The last line on the right is from my own Week 2 plan, and it shaped how I wrote this final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section of my portfolio is colour-coded by these three strands, so a reader can trace each principle from scripture to a decision in my work to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President Kusch taught that understanding comes from study and prayer together, and from more than one source. Working alone makes me my only source. Naming this weakness was the most useful spiritual insight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career direction is network and systems administration. My SACIM experience is why my capstone focuses on reliability and stewardship rather than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printed "Backed up" without checking anything and quietly copied private keys. Version 2 proves the backup before it reports success. This is the same failure I criticised in Equifax: "done" without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turned the Equifax case into a patch verification checklist and an incident notice template, and into decisions I have made ahead of time for situations I will face as an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a form of charity: it serves visitors I cannot see. A score of zero only means the machine-detectable problems are fixed; real users show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wanted to be honest here. Some goals were met, some changed, and some are still in progress. The ones I missed are the ones that needed other people, which confirmed my warning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capstone did not follow my Week 2 plan. Like Elder Morrison's unexpected mission call, the different path taught me more than the planned one would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Giving feedback taught me as much as receiving it: when I told Sonny to ask an outside tester, I was describing my own warning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plan uses the 4 Disciplines of Execution from the course reading: one wildly important goal, weekly lead measures, a scoreboard, and a weekly rhythm of accountability. Close with my commitment to keep growing as a disciple of Jesus Christ in my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640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11880"/>
            <a:ext cx="10698480" cy="1463040"/>
          </a:xfrm>
          <a:prstGeom prst="rect">
            <a:avLst/>
          </a:prstGeom>
          <a:noFill/>
          <a:ln/>
        </p:spPr>
        <p:txBody>
          <a:bodyPr wrap="square" rtlCol="0"/>
          <a:lstStyle>
            <a:lvl1pPr algn="l" indent="0" marL="0">
              <a:buNone/>
              <a:defRPr lang="en-US" sz="2000" dirty="0">
                <a:solidFill>
                  <a:srgbClr val="CFE3E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6646D"/>
                </a:solidFill>
              </a:rPr>
              <a:t>Gaston Kasongo · IT 497 Capstone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ope0"/>
          <p:cNvSpPr/>
          <p:nvPr/>
        </p:nvSpPr>
        <p:spPr>
          <a:xfrm>
            <a:off x="731520" y="1554480"/>
            <a:ext cx="201168" cy="201168"/>
          </a:xfrm>
          <a:prstGeom prst="ellipse">
            <a:avLst/>
          </a:prstGeom>
          <a:solidFill>
            <a:srgbClr val="1F6F7A"/>
          </a:solidFill>
          <a:ln w="12700">
            <a:solidFill>
              <a:srgbClr val="FFFFFF"/>
            </a:solidFill>
            <a:prstDash val="solid"/>
          </a:ln>
        </p:spPr>
      </p:sp>
      <p:sp>
        <p:nvSpPr>
          <p:cNvPr id="3" name="rope1"/>
          <p:cNvSpPr/>
          <p:nvPr/>
        </p:nvSpPr>
        <p:spPr>
          <a:xfrm>
            <a:off x="1024128" y="1554480"/>
            <a:ext cx="201168" cy="201168"/>
          </a:xfrm>
          <a:prstGeom prst="ellipse">
            <a:avLst/>
          </a:prstGeom>
          <a:solidFill>
            <a:srgbClr val="8A5410"/>
          </a:solidFill>
          <a:ln w="12700">
            <a:solidFill>
              <a:srgbClr val="FFFFFF"/>
            </a:solidFill>
            <a:prstDash val="solid"/>
          </a:ln>
        </p:spPr>
      </p:sp>
      <p:sp>
        <p:nvSpPr>
          <p:cNvPr id="4" name="rope2"/>
          <p:cNvSpPr/>
          <p:nvPr/>
        </p:nvSpPr>
        <p:spPr>
          <a:xfrm>
            <a:off x="1316736" y="1554480"/>
            <a:ext cx="201168" cy="201168"/>
          </a:xfrm>
          <a:prstGeom prst="ellipse">
            <a:avLst/>
          </a:prstGeom>
          <a:solidFill>
            <a:srgbClr val="7A3F6C"/>
          </a:solidFill>
          <a:ln w="12700">
            <a:solidFill>
              <a:srgbClr val="FFFFFF"/>
            </a:solidFill>
            <a:prstDash val="solid"/>
          </a:ln>
        </p:spPr>
      </p:sp>
      <p:sp>
        <p:nvSpPr>
          <p:cNvPr id="5"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Gathered into One Rope</a:t>
            </a:r>
            <a:endParaRPr lang="en-US" sz="4400" dirty="0"/>
          </a:p>
        </p:txBody>
      </p:sp>
      <p:sp>
        <p:nvSpPr>
          <p:cNvPr id="6" name="Text 0"/>
          <p:cNvSpPr/>
          <p:nvPr>
            <p:ph idx="101" type="body" hasCustomPrompt="1"/>
          </p:nvPr>
        </p:nvSpPr>
        <p:spPr>
          <a:xfrm>
            <a:off x="731520" y="3611880"/>
            <a:ext cx="10698480" cy="1463040"/>
          </a:xfrm>
          <a:prstGeom prst="rect">
            <a:avLst/>
          </a:prstGeom>
          <a:noFill/>
          <a:ln/>
        </p:spPr>
        <p:txBody>
          <a:bodyPr wrap="square" rtlCol="0" anchor="t"/>
          <a:lstStyle/>
          <a:p>
            <a:pPr algn="l" indent="0" marL="0">
              <a:buNone/>
            </a:pPr>
            <a:r>
              <a:rPr lang="en-US" sz="2000" dirty="0">
                <a:solidFill>
                  <a:srgbClr val="CFE3E6"/>
                </a:solidFill>
              </a:rPr>
              <a:t>My Spiritual Progression and Professional Growth Portfolios</a:t>
            </a:r>
            <a:endParaRPr lang="en-US" sz="2000" dirty="0"/>
          </a:p>
          <a:p>
            <a:pPr algn="l" indent="0" marL="0">
              <a:buNone/>
            </a:pPr>
            <a:r>
              <a:rPr lang="en-US" sz="1600" dirty="0">
                <a:solidFill>
                  <a:srgbClr val="CFE3E6"/>
                </a:solidFill>
              </a:rPr>
              <a:t>Gaston Kasongo · IT 497 Capstone · October 2026</a:t>
            </a:r>
            <a:endParaRPr lang="en-US" sz="2000" dirty="0"/>
          </a:p>
          <a:p>
            <a:pPr algn="l" indent="0" marL="0">
              <a:buNone/>
            </a:pPr>
            <a:r>
              <a:rPr lang="en-US" sz="1600" dirty="0">
                <a:solidFill>
                  <a:srgbClr val="F2C98A"/>
                </a:solidFill>
              </a:rPr>
              <a:t>gki12.github.io/it497-portfolio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Where I started: Weeks 1 and 2</a:t>
            </a:r>
            <a:endParaRPr lang="en-US" sz="3400" dirty="0"/>
          </a:p>
        </p:txBody>
      </p:sp>
      <p:sp>
        <p:nvSpPr>
          <p:cNvPr id="3" name="goal0"/>
          <p:cNvSpPr/>
          <p:nvPr/>
        </p:nvSpPr>
        <p:spPr>
          <a:xfrm>
            <a:off x="640080" y="1463040"/>
            <a:ext cx="548640" cy="548640"/>
          </a:xfrm>
          <a:prstGeom prst="ellipse">
            <a:avLst/>
          </a:prstGeom>
          <a:solidFill>
            <a:srgbClr val="1F6F7A"/>
          </a:solidFill>
          <a:ln w="12700">
            <a:solidFill>
              <a:srgbClr val="1F6F7A"/>
            </a:solidFill>
            <a:prstDash val="solid"/>
          </a:ln>
        </p:spPr>
      </p:sp>
      <p:sp>
        <p:nvSpPr>
          <p:cNvPr id="4" name="Text 2"/>
          <p:cNvSpPr txBox="1"/>
          <p:nvPr/>
        </p:nvSpPr>
        <p:spPr>
          <a:xfrm>
            <a:off x="640080" y="14630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371600" y="1417320"/>
            <a:ext cx="5120640" cy="914400"/>
          </a:xfrm>
          <a:prstGeom prst="rect">
            <a:avLst/>
          </a:prstGeom>
          <a:noFill/>
          <a:ln/>
        </p:spPr>
        <p:txBody>
          <a:bodyPr wrap="square" lIns="635" tIns="635" rIns="635" bIns="635" rtlCol="0" anchor="t"/>
          <a:lstStyle/>
          <a:p>
            <a:pPr indent="0" marL="0">
              <a:buNone/>
            </a:pPr>
            <a:r>
              <a:rPr lang="en-US" sz="1800" b="1" dirty="0">
                <a:solidFill>
                  <a:schemeClr val="tx1"/>
                </a:solidFill>
              </a:rPr>
              <a:t>A complete portfolio</a:t>
            </a:r>
            <a:endParaRPr lang="en-US" sz="1500" dirty="0"/>
          </a:p>
          <a:p>
            <a:pPr indent="0" marL="0">
              <a:buNone/>
            </a:pPr>
            <a:r>
              <a:rPr lang="en-US" sz="1500" dirty="0">
                <a:solidFill>
                  <a:srgbClr val="56646D"/>
                </a:solidFill>
              </a:rPr>
              <a:t>Introduction, résumé, three project artifacts, and a reflection for each by Week 5</a:t>
            </a:r>
            <a:endParaRPr lang="en-US" sz="1500" dirty="0"/>
          </a:p>
        </p:txBody>
      </p:sp>
      <p:sp>
        <p:nvSpPr>
          <p:cNvPr id="6" name="goal1"/>
          <p:cNvSpPr/>
          <p:nvPr/>
        </p:nvSpPr>
        <p:spPr>
          <a:xfrm>
            <a:off x="640080" y="2606040"/>
            <a:ext cx="548640" cy="548640"/>
          </a:xfrm>
          <a:prstGeom prst="ellipse">
            <a:avLst/>
          </a:prstGeom>
          <a:solidFill>
            <a:srgbClr val="8A5410"/>
          </a:solidFill>
          <a:ln w="12700">
            <a:solidFill>
              <a:srgbClr val="8A5410"/>
            </a:solidFill>
            <a:prstDash val="solid"/>
          </a:ln>
        </p:spPr>
      </p:sp>
      <p:sp>
        <p:nvSpPr>
          <p:cNvPr id="7" name="Text 5"/>
          <p:cNvSpPr txBox="1"/>
          <p:nvPr/>
        </p:nvSpPr>
        <p:spPr>
          <a:xfrm>
            <a:off x="640080" y="26060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8" name="Text 6"/>
          <p:cNvSpPr txBox="1"/>
          <p:nvPr/>
        </p:nvSpPr>
        <p:spPr>
          <a:xfrm>
            <a:off x="1371600" y="2560320"/>
            <a:ext cx="5120640" cy="914400"/>
          </a:xfrm>
          <a:prstGeom prst="rect">
            <a:avLst/>
          </a:prstGeom>
          <a:noFill/>
          <a:ln/>
        </p:spPr>
        <p:txBody>
          <a:bodyPr wrap="square" lIns="635" tIns="635" rIns="635" bIns="635" rtlCol="0" anchor="t"/>
          <a:lstStyle/>
          <a:p>
            <a:pPr indent="0" marL="0">
              <a:buNone/>
            </a:pPr>
            <a:r>
              <a:rPr lang="en-US" sz="1800" b="1" dirty="0">
                <a:solidFill>
                  <a:schemeClr val="tx1"/>
                </a:solidFill>
              </a:rPr>
              <a:t>A weekly learning record</a:t>
            </a:r>
            <a:endParaRPr lang="en-US" sz="1500" dirty="0"/>
          </a:p>
          <a:p>
            <a:pPr indent="0" marL="0">
              <a:buNone/>
            </a:pPr>
            <a:r>
              <a:rPr lang="en-US" sz="1500" dirty="0">
                <a:solidFill>
                  <a:srgbClr val="56646D"/>
                </a:solidFill>
              </a:rPr>
              <a:t>One learning experience, one challenge, and one action every week</a:t>
            </a:r>
            <a:endParaRPr lang="en-US" sz="1500" dirty="0"/>
          </a:p>
        </p:txBody>
      </p:sp>
      <p:sp>
        <p:nvSpPr>
          <p:cNvPr id="9" name="goal2"/>
          <p:cNvSpPr/>
          <p:nvPr/>
        </p:nvSpPr>
        <p:spPr>
          <a:xfrm>
            <a:off x="640080" y="3749040"/>
            <a:ext cx="548640" cy="548640"/>
          </a:xfrm>
          <a:prstGeom prst="ellipse">
            <a:avLst/>
          </a:prstGeom>
          <a:solidFill>
            <a:srgbClr val="7A3F6C"/>
          </a:solidFill>
          <a:ln w="12700">
            <a:solidFill>
              <a:srgbClr val="7A3F6C"/>
            </a:solidFill>
            <a:prstDash val="solid"/>
          </a:ln>
        </p:spPr>
      </p:sp>
      <p:sp>
        <p:nvSpPr>
          <p:cNvPr id="10" name="Text 8"/>
          <p:cNvSpPr txBox="1"/>
          <p:nvPr/>
        </p:nvSpPr>
        <p:spPr>
          <a:xfrm>
            <a:off x="640080" y="37490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1" name="Text 9"/>
          <p:cNvSpPr txBox="1"/>
          <p:nvPr/>
        </p:nvSpPr>
        <p:spPr>
          <a:xfrm>
            <a:off x="1371600" y="3703320"/>
            <a:ext cx="5120640" cy="914400"/>
          </a:xfrm>
          <a:prstGeom prst="rect">
            <a:avLst/>
          </a:prstGeom>
          <a:noFill/>
          <a:ln/>
        </p:spPr>
        <p:txBody>
          <a:bodyPr wrap="square" lIns="635" tIns="635" rIns="635" bIns="635" rtlCol="0" anchor="t"/>
          <a:lstStyle/>
          <a:p>
            <a:pPr indent="0" marL="0">
              <a:buNone/>
            </a:pPr>
            <a:r>
              <a:rPr lang="en-US" sz="1800" b="1" dirty="0">
                <a:solidFill>
                  <a:schemeClr val="tx1"/>
                </a:solidFill>
              </a:rPr>
              <a:t>Disciple leadership</a:t>
            </a:r>
            <a:endParaRPr lang="en-US" sz="1500" dirty="0"/>
          </a:p>
          <a:p>
            <a:pPr indent="0" marL="0">
              <a:buNone/>
            </a:pPr>
            <a:r>
              <a:rPr lang="en-US" sz="1500" dirty="0">
                <a:solidFill>
                  <a:srgbClr val="56646D"/>
                </a:solidFill>
              </a:rPr>
              <a:t>Pray before major tasks, act with integrity, help at least one person with technology</a:t>
            </a:r>
            <a:endParaRPr lang="en-US" sz="1500" dirty="0"/>
          </a:p>
        </p:txBody>
      </p:sp>
      <p:sp>
        <p:nvSpPr>
          <p:cNvPr id="12" name="plancard"/>
          <p:cNvSpPr/>
          <p:nvPr/>
        </p:nvSpPr>
        <p:spPr>
          <a:xfrm>
            <a:off x="6949440" y="1371600"/>
            <a:ext cx="4663440" cy="3931920"/>
          </a:xfrm>
          <a:prstGeom prst="roundRect">
            <a:avLst>
              <a:gd name="adj" fmla="val 1860"/>
            </a:avLst>
          </a:prstGeom>
          <a:solidFill>
            <a:srgbClr val="EEF3F3"/>
          </a:solidFill>
          <a:ln w="12700">
            <a:solidFill>
              <a:srgbClr val="EEF3F3"/>
            </a:solidFill>
            <a:prstDash val="solid"/>
          </a:ln>
        </p:spPr>
      </p:sp>
      <p:sp>
        <p:nvSpPr>
          <p:cNvPr id="13" name="Text 11"/>
          <p:cNvSpPr txBox="1"/>
          <p:nvPr/>
        </p:nvSpPr>
        <p:spPr>
          <a:xfrm>
            <a:off x="7223760" y="1600200"/>
            <a:ext cx="4206240" cy="4114800"/>
          </a:xfrm>
          <a:prstGeom prst="rect">
            <a:avLst/>
          </a:prstGeom>
          <a:noFill/>
          <a:ln/>
        </p:spPr>
        <p:txBody>
          <a:bodyPr wrap="square" lIns="635" tIns="635" rIns="635" bIns="635" rtlCol="0" anchor="t"/>
          <a:lstStyle/>
          <a:p>
            <a:pPr indent="0" marL="0">
              <a:spcAft>
                <a:spcPts val="800"/>
              </a:spcAft>
              <a:buNone/>
            </a:pPr>
            <a:r>
              <a:rPr lang="en-US" sz="1800" b="1" dirty="0">
                <a:solidFill>
                  <a:schemeClr val="tx1"/>
                </a:solidFill>
              </a:rPr>
              <a:t>My Week 2 plan</a:t>
            </a:r>
            <a:endParaRPr lang="en-US" sz="1500" dirty="0"/>
          </a:p>
          <a:p>
            <a:pPr marL="342900" indent="-342900">
              <a:spcAft>
                <a:spcPts val="800"/>
              </a:spcAft>
              <a:buSzPct val="100000"/>
              <a:buChar char="•"/>
            </a:pPr>
            <a:r>
              <a:rPr lang="en-US" sz="1500" dirty="0">
                <a:solidFill>
                  <a:schemeClr val="tx1"/>
                </a:solidFill>
              </a:rPr>
              <a:t>Three projects: a security lab, a community website, and a backup script</a:t>
            </a:r>
            <a:endParaRPr lang="en-US" sz="1500" dirty="0"/>
          </a:p>
          <a:p>
            <a:pPr marL="342900" indent="-342900">
              <a:spcAft>
                <a:spcPts val="800"/>
              </a:spcAft>
              <a:buSzPct val="100000"/>
              <a:buChar char="•"/>
            </a:pPr>
            <a:r>
              <a:rPr lang="en-US" sz="1500" dirty="0">
                <a:solidFill>
                  <a:schemeClr val="tx1"/>
                </a:solidFill>
              </a:rPr>
              <a:t>GitHub Pages as my platform</a:t>
            </a:r>
            <a:endParaRPr lang="en-US" sz="1500" dirty="0"/>
          </a:p>
          <a:p>
            <a:pPr marL="342900" indent="-342900">
              <a:spcAft>
                <a:spcPts val="800"/>
              </a:spcAft>
              <a:buSzPct val="100000"/>
              <a:buChar char="•"/>
            </a:pPr>
            <a:r>
              <a:rPr lang="en-US" sz="1500" dirty="0">
                <a:solidFill>
                  <a:schemeClr val="tx1"/>
                </a:solidFill>
              </a:rPr>
              <a:t>The Equifax breach as my ethics case</a:t>
            </a:r>
            <a:endParaRPr lang="en-US" sz="1500" dirty="0"/>
          </a:p>
          <a:p>
            <a:pPr marL="342900" indent="-342900">
              <a:spcAft>
                <a:spcPts val="800"/>
              </a:spcAft>
              <a:buSzPct val="100000"/>
              <a:buChar char="•"/>
            </a:pPr>
            <a:r>
              <a:rPr lang="en-US" sz="1500" dirty="0">
                <a:solidFill>
                  <a:schemeClr val="tx1"/>
                </a:solidFill>
              </a:rPr>
              <a:t>Ask a user to test each project, and find an IT mentor</a:t>
            </a:r>
            <a:endParaRPr lang="en-US" sz="1500" dirty="0"/>
          </a:p>
          <a:p>
            <a:pPr indent="0" marL="0">
              <a:spcAft>
                <a:spcPts val="800"/>
              </a:spcAft>
              <a:buNone/>
            </a:pPr>
            <a:r>
              <a:rPr lang="en-US" sz="1500" i="1" dirty="0">
                <a:solidFill>
                  <a:srgbClr val="7A3F6C"/>
                </a:solidFill>
              </a:rPr>
              <a:t>"Actual experiences and feedback will determine what I can honestly claim."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Three guiding principles, one rope</a:t>
            </a:r>
            <a:endParaRPr lang="en-US" sz="3400" dirty="0"/>
          </a:p>
        </p:txBody>
      </p:sp>
      <p:sp>
        <p:nvSpPr>
          <p:cNvPr id="3" name="strand0"/>
          <p:cNvSpPr/>
          <p:nvPr/>
        </p:nvSpPr>
        <p:spPr>
          <a:xfrm>
            <a:off x="548640" y="1463040"/>
            <a:ext cx="3520440" cy="3474720"/>
          </a:xfrm>
          <a:prstGeom prst="roundRect">
            <a:avLst>
              <a:gd name="adj" fmla="val 2105"/>
            </a:avLst>
          </a:prstGeom>
          <a:solidFill>
            <a:srgbClr val="E1EFEF"/>
          </a:solidFill>
          <a:ln w="12700">
            <a:solidFill>
              <a:srgbClr val="E1EFEF"/>
            </a:solidFill>
            <a:prstDash val="solid"/>
          </a:ln>
        </p:spPr>
      </p:sp>
      <p:sp>
        <p:nvSpPr>
          <p:cNvPr id="4" name="sdot0"/>
          <p:cNvSpPr/>
          <p:nvPr/>
        </p:nvSpPr>
        <p:spPr>
          <a:xfrm>
            <a:off x="822960" y="1737360"/>
            <a:ext cx="548640" cy="548640"/>
          </a:xfrm>
          <a:prstGeom prst="ellipse">
            <a:avLst/>
          </a:prstGeom>
          <a:solidFill>
            <a:srgbClr val="1F6F7A"/>
          </a:solidFill>
          <a:ln w="12700">
            <a:solidFill>
              <a:srgbClr val="1F6F7A"/>
            </a:solidFill>
            <a:prstDash val="solid"/>
          </a:ln>
        </p:spPr>
      </p:sp>
      <p:sp>
        <p:nvSpPr>
          <p:cNvPr id="5" name="Text 3"/>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822960" y="2468880"/>
            <a:ext cx="3017520" cy="3017520"/>
          </a:xfrm>
          <a:prstGeom prst="rect">
            <a:avLst/>
          </a:prstGeom>
          <a:noFill/>
          <a:ln/>
        </p:spPr>
        <p:txBody>
          <a:bodyPr wrap="square" lIns="635" tIns="635" rIns="635" bIns="635" rtlCol="0" anchor="t"/>
          <a:lstStyle/>
          <a:p>
            <a:pPr indent="0" marL="0">
              <a:buNone/>
            </a:pPr>
            <a:r>
              <a:rPr lang="en-US" sz="2000" b="1" dirty="0">
                <a:solidFill>
                  <a:srgbClr val="1F6F7A"/>
                </a:solidFill>
                <a:latin typeface="Cambria" pitchFamily="34" charset="0"/>
                <a:ea typeface="Cambria" pitchFamily="34" charset="-122"/>
                <a:cs typeface="Cambria" pitchFamily="34" charset="-120"/>
              </a:rPr>
              <a:t>Faith that acts</a:t>
            </a:r>
            <a:endParaRPr lang="en-US" sz="1500" dirty="0"/>
          </a:p>
          <a:p>
            <a:pPr indent="0" marL="0">
              <a:buNone/>
            </a:pPr>
            <a:r>
              <a:rPr lang="en-US" sz="1400" i="1" dirty="0">
                <a:solidFill>
                  <a:srgbClr val="56646D"/>
                </a:solidFill>
              </a:rPr>
              <a:t>D&amp;C 58:26–28</a:t>
            </a:r>
            <a:endParaRPr lang="en-US" sz="1500" dirty="0"/>
          </a:p>
          <a:p>
            <a:pPr indent="0" marL="0">
              <a:buNone/>
            </a:pPr>
            <a:r>
              <a:rPr lang="en-US" sz="800" dirty="0">
                <a:solidFill>
                  <a:schemeClr val="tx1"/>
                </a:solidFill>
              </a:rPr>
              <a:t> </a:t>
            </a:r>
            <a:endParaRPr lang="en-US" sz="1500" dirty="0"/>
          </a:p>
          <a:p>
            <a:pPr indent="0" marL="0">
              <a:buNone/>
            </a:pPr>
            <a:r>
              <a:rPr lang="en-US" sz="1600" dirty="0">
                <a:solidFill>
                  <a:schemeClr val="tx1"/>
                </a:solidFill>
              </a:rPr>
              <a:t>Act without waiting to be told: look for problems before they are assigned.</a:t>
            </a:r>
            <a:endParaRPr lang="en-US" sz="1500" dirty="0"/>
          </a:p>
        </p:txBody>
      </p:sp>
      <p:sp>
        <p:nvSpPr>
          <p:cNvPr id="7" name="strand1"/>
          <p:cNvSpPr/>
          <p:nvPr/>
        </p:nvSpPr>
        <p:spPr>
          <a:xfrm>
            <a:off x="4343400" y="1463040"/>
            <a:ext cx="3520440" cy="3474720"/>
          </a:xfrm>
          <a:prstGeom prst="roundRect">
            <a:avLst>
              <a:gd name="adj" fmla="val 2105"/>
            </a:avLst>
          </a:prstGeom>
          <a:solidFill>
            <a:srgbClr val="F5EAD9"/>
          </a:solidFill>
          <a:ln w="12700">
            <a:solidFill>
              <a:srgbClr val="F5EAD9"/>
            </a:solidFill>
            <a:prstDash val="solid"/>
          </a:ln>
        </p:spPr>
      </p:sp>
      <p:sp>
        <p:nvSpPr>
          <p:cNvPr id="8" name="sdot1"/>
          <p:cNvSpPr/>
          <p:nvPr/>
        </p:nvSpPr>
        <p:spPr>
          <a:xfrm>
            <a:off x="4617720" y="1737360"/>
            <a:ext cx="548640" cy="548640"/>
          </a:xfrm>
          <a:prstGeom prst="ellipse">
            <a:avLst/>
          </a:prstGeom>
          <a:solidFill>
            <a:srgbClr val="8A5410"/>
          </a:solidFill>
          <a:ln w="12700">
            <a:solidFill>
              <a:srgbClr val="8A5410"/>
            </a:solidFill>
            <a:prstDash val="solid"/>
          </a:ln>
        </p:spPr>
      </p:sp>
      <p:sp>
        <p:nvSpPr>
          <p:cNvPr id="9" name="Text 7"/>
          <p:cNvSpPr txBox="1"/>
          <p:nvPr/>
        </p:nvSpPr>
        <p:spPr>
          <a:xfrm>
            <a:off x="461772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0" name="Text 8"/>
          <p:cNvSpPr txBox="1"/>
          <p:nvPr/>
        </p:nvSpPr>
        <p:spPr>
          <a:xfrm>
            <a:off x="4617720" y="2468880"/>
            <a:ext cx="3017520" cy="3017520"/>
          </a:xfrm>
          <a:prstGeom prst="rect">
            <a:avLst/>
          </a:prstGeom>
          <a:noFill/>
          <a:ln/>
        </p:spPr>
        <p:txBody>
          <a:bodyPr wrap="square" lIns="635" tIns="635" rIns="635" bIns="635" rtlCol="0" anchor="t"/>
          <a:lstStyle/>
          <a:p>
            <a:pPr indent="0" marL="0">
              <a:buNone/>
            </a:pPr>
            <a:r>
              <a:rPr lang="en-US" sz="2000" b="1" dirty="0">
                <a:solidFill>
                  <a:srgbClr val="8A5410"/>
                </a:solidFill>
                <a:latin typeface="Cambria" pitchFamily="34" charset="0"/>
                <a:ea typeface="Cambria" pitchFamily="34" charset="-122"/>
                <a:cs typeface="Cambria" pitchFamily="34" charset="-120"/>
              </a:rPr>
              <a:t>Integrity and stewardship</a:t>
            </a:r>
            <a:endParaRPr lang="en-US" sz="1500" dirty="0"/>
          </a:p>
          <a:p>
            <a:pPr indent="0" marL="0">
              <a:buNone/>
            </a:pPr>
            <a:r>
              <a:rPr lang="en-US" sz="1400" i="1" dirty="0">
                <a:solidFill>
                  <a:srgbClr val="56646D"/>
                </a:solidFill>
              </a:rPr>
              <a:t>Luke 16:10</a:t>
            </a:r>
            <a:endParaRPr lang="en-US" sz="1500" dirty="0"/>
          </a:p>
          <a:p>
            <a:pPr indent="0" marL="0">
              <a:buNone/>
            </a:pPr>
            <a:r>
              <a:rPr lang="en-US" sz="800" dirty="0">
                <a:solidFill>
                  <a:schemeClr val="tx1"/>
                </a:solidFill>
              </a:rPr>
              <a:t> </a:t>
            </a:r>
            <a:endParaRPr lang="en-US" sz="1500" dirty="0"/>
          </a:p>
          <a:p>
            <a:pPr indent="0" marL="0">
              <a:buNone/>
            </a:pPr>
            <a:r>
              <a:rPr lang="en-US" sz="1600" dirty="0">
                <a:solidFill>
                  <a:schemeClr val="tx1"/>
                </a:solidFill>
              </a:rPr>
              <a:t>Faithful in small things: honest claims, protected data, verified work.</a:t>
            </a:r>
            <a:endParaRPr lang="en-US" sz="1500" dirty="0"/>
          </a:p>
        </p:txBody>
      </p:sp>
      <p:sp>
        <p:nvSpPr>
          <p:cNvPr id="11" name="strand2"/>
          <p:cNvSpPr/>
          <p:nvPr/>
        </p:nvSpPr>
        <p:spPr>
          <a:xfrm>
            <a:off x="8138160" y="1463040"/>
            <a:ext cx="3520440" cy="3474720"/>
          </a:xfrm>
          <a:prstGeom prst="roundRect">
            <a:avLst>
              <a:gd name="adj" fmla="val 2105"/>
            </a:avLst>
          </a:prstGeom>
          <a:solidFill>
            <a:srgbClr val="EFE2EC"/>
          </a:solidFill>
          <a:ln w="12700">
            <a:solidFill>
              <a:srgbClr val="EFE2EC"/>
            </a:solidFill>
            <a:prstDash val="solid"/>
          </a:ln>
        </p:spPr>
      </p:sp>
      <p:sp>
        <p:nvSpPr>
          <p:cNvPr id="12" name="sdot2"/>
          <p:cNvSpPr/>
          <p:nvPr/>
        </p:nvSpPr>
        <p:spPr>
          <a:xfrm>
            <a:off x="8412480" y="1737360"/>
            <a:ext cx="548640" cy="548640"/>
          </a:xfrm>
          <a:prstGeom prst="ellipse">
            <a:avLst/>
          </a:prstGeom>
          <a:solidFill>
            <a:srgbClr val="7A3F6C"/>
          </a:solidFill>
          <a:ln w="12700">
            <a:solidFill>
              <a:srgbClr val="7A3F6C"/>
            </a:solidFill>
            <a:prstDash val="solid"/>
          </a:ln>
        </p:spPr>
      </p:sp>
      <p:sp>
        <p:nvSpPr>
          <p:cNvPr id="13" name="Text 11"/>
          <p:cNvSpPr txBox="1"/>
          <p:nvPr/>
        </p:nvSpPr>
        <p:spPr>
          <a:xfrm>
            <a:off x="841248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4" name="Text 12"/>
          <p:cNvSpPr txBox="1"/>
          <p:nvPr/>
        </p:nvSpPr>
        <p:spPr>
          <a:xfrm>
            <a:off x="8412480" y="2468880"/>
            <a:ext cx="3017520" cy="3017520"/>
          </a:xfrm>
          <a:prstGeom prst="rect">
            <a:avLst/>
          </a:prstGeom>
          <a:noFill/>
          <a:ln/>
        </p:spPr>
        <p:txBody>
          <a:bodyPr wrap="square" lIns="635" tIns="635" rIns="635" bIns="635" rtlCol="0" anchor="t"/>
          <a:lstStyle/>
          <a:p>
            <a:pPr indent="0" marL="0">
              <a:buNone/>
            </a:pPr>
            <a:r>
              <a:rPr lang="en-US" sz="2000" b="1" dirty="0">
                <a:solidFill>
                  <a:srgbClr val="7A3F6C"/>
                </a:solidFill>
                <a:latin typeface="Cambria" pitchFamily="34" charset="0"/>
                <a:ea typeface="Cambria" pitchFamily="34" charset="-122"/>
                <a:cs typeface="Cambria" pitchFamily="34" charset="-120"/>
              </a:rPr>
              <a:t>Charity through service</a:t>
            </a:r>
            <a:endParaRPr lang="en-US" sz="1500" dirty="0"/>
          </a:p>
          <a:p>
            <a:pPr indent="0" marL="0">
              <a:buNone/>
            </a:pPr>
            <a:r>
              <a:rPr lang="en-US" sz="1400" i="1" dirty="0">
                <a:solidFill>
                  <a:srgbClr val="56646D"/>
                </a:solidFill>
              </a:rPr>
              <a:t>Mosiah 2:17</a:t>
            </a:r>
            <a:endParaRPr lang="en-US" sz="1500" dirty="0"/>
          </a:p>
          <a:p>
            <a:pPr indent="0" marL="0">
              <a:buNone/>
            </a:pPr>
            <a:r>
              <a:rPr lang="en-US" sz="800" dirty="0">
                <a:solidFill>
                  <a:schemeClr val="tx1"/>
                </a:solidFill>
              </a:rPr>
              <a:t> </a:t>
            </a:r>
            <a:endParaRPr lang="en-US" sz="1500" dirty="0"/>
          </a:p>
          <a:p>
            <a:pPr indent="0" marL="0">
              <a:buNone/>
            </a:pPr>
            <a:r>
              <a:rPr lang="en-US" sz="1600" dirty="0">
                <a:solidFill>
                  <a:schemeClr val="tx1"/>
                </a:solidFill>
              </a:rPr>
              <a:t>Technology serves the person who depends on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grew in me</a:t>
            </a:r>
            <a:endParaRPr lang="en-US" sz="3400" dirty="0"/>
          </a:p>
        </p:txBody>
      </p:sp>
      <p:sp>
        <p:nvSpPr>
          <p:cNvPr id="3" name="Text 1"/>
          <p:cNvSpPr txBox="1"/>
          <p:nvPr/>
        </p:nvSpPr>
        <p:spPr>
          <a:xfrm>
            <a:off x="548640" y="1417320"/>
            <a:ext cx="1463040" cy="1097280"/>
          </a:xfrm>
          <a:prstGeom prst="rect">
            <a:avLst/>
          </a:prstGeom>
          <a:noFill/>
          <a:ln/>
        </p:spPr>
        <p:txBody>
          <a:bodyPr wrap="square" lIns="0" tIns="0" rIns="0" bIns="0" rtlCol="0" anchor="ctr"/>
          <a:lstStyle/>
          <a:p>
            <a:pPr indent="0" marL="0">
              <a:buNone/>
            </a:pPr>
            <a:r>
              <a:rPr lang="en-US" sz="6000" b="1" dirty="0">
                <a:solidFill>
                  <a:srgbClr val="1F6F7A"/>
                </a:solidFill>
                <a:latin typeface="Cambria" pitchFamily="34" charset="0"/>
                <a:ea typeface="Cambria" pitchFamily="34" charset="-122"/>
                <a:cs typeface="Cambria" pitchFamily="34" charset="-120"/>
              </a:rPr>
              <a:t>14</a:t>
            </a:r>
            <a:endParaRPr lang="en-US" sz="6000" dirty="0"/>
          </a:p>
        </p:txBody>
      </p:sp>
      <p:sp>
        <p:nvSpPr>
          <p:cNvPr id="4" name="Text 2"/>
          <p:cNvSpPr txBox="1"/>
          <p:nvPr/>
        </p:nvSpPr>
        <p:spPr>
          <a:xfrm>
            <a:off x="2103120" y="1645920"/>
            <a:ext cx="3291840" cy="731520"/>
          </a:xfrm>
          <a:prstGeom prst="rect">
            <a:avLst/>
          </a:prstGeom>
          <a:noFill/>
          <a:ln/>
        </p:spPr>
        <p:txBody>
          <a:bodyPr wrap="square" lIns="635" tIns="635" rIns="635" bIns="635" rtlCol="0" anchor="t"/>
          <a:lstStyle/>
          <a:p>
            <a:pPr indent="0" marL="0">
              <a:buNone/>
            </a:pPr>
            <a:r>
              <a:rPr lang="en-US" sz="1600" dirty="0">
                <a:solidFill>
                  <a:schemeClr val="tx1"/>
                </a:solidFill>
              </a:rPr>
              <a:t>faith and learning entries in four themes</a:t>
            </a:r>
            <a:endParaRPr lang="en-US" sz="1600" dirty="0"/>
          </a:p>
        </p:txBody>
      </p:sp>
      <p:sp>
        <p:nvSpPr>
          <p:cNvPr id="5" name="Text 3"/>
          <p:cNvSpPr txBox="1"/>
          <p:nvPr/>
        </p:nvSpPr>
        <p:spPr>
          <a:xfrm>
            <a:off x="548640" y="2880360"/>
            <a:ext cx="1463040" cy="1097280"/>
          </a:xfrm>
          <a:prstGeom prst="rect">
            <a:avLst/>
          </a:prstGeom>
          <a:noFill/>
          <a:ln/>
        </p:spPr>
        <p:txBody>
          <a:bodyPr wrap="square" lIns="0" tIns="0" rIns="0" bIns="0" rtlCol="0" anchor="ctr"/>
          <a:lstStyle/>
          <a:p>
            <a:pPr indent="0" marL="0">
              <a:buNone/>
            </a:pPr>
            <a:r>
              <a:rPr lang="en-US" sz="6000" b="1" dirty="0">
                <a:solidFill>
                  <a:srgbClr val="8A5410"/>
                </a:solidFill>
                <a:latin typeface="Cambria" pitchFamily="34" charset="0"/>
                <a:ea typeface="Cambria" pitchFamily="34" charset="-122"/>
                <a:cs typeface="Cambria" pitchFamily="34" charset="-120"/>
              </a:rPr>
              <a:t>6</a:t>
            </a:r>
            <a:endParaRPr lang="en-US" sz="6000" dirty="0"/>
          </a:p>
        </p:txBody>
      </p:sp>
      <p:sp>
        <p:nvSpPr>
          <p:cNvPr id="6" name="Text 4"/>
          <p:cNvSpPr txBox="1"/>
          <p:nvPr/>
        </p:nvSpPr>
        <p:spPr>
          <a:xfrm>
            <a:off x="2103120" y="3108960"/>
            <a:ext cx="3291840" cy="731520"/>
          </a:xfrm>
          <a:prstGeom prst="rect">
            <a:avLst/>
          </a:prstGeom>
          <a:noFill/>
          <a:ln/>
        </p:spPr>
        <p:txBody>
          <a:bodyPr wrap="square" lIns="635" tIns="635" rIns="635" bIns="635" rtlCol="0" anchor="t"/>
          <a:lstStyle/>
          <a:p>
            <a:pPr indent="0" marL="0">
              <a:buNone/>
            </a:pPr>
            <a:r>
              <a:rPr lang="en-US" sz="1600" dirty="0">
                <a:solidFill>
                  <a:schemeClr val="tx1"/>
                </a:solidFill>
              </a:rPr>
              <a:t>Christlike attributes traced with evidence</a:t>
            </a:r>
            <a:endParaRPr lang="en-US" sz="1600" dirty="0"/>
          </a:p>
        </p:txBody>
      </p:sp>
      <p:sp>
        <p:nvSpPr>
          <p:cNvPr id="7" name="Text 5"/>
          <p:cNvSpPr txBox="1"/>
          <p:nvPr/>
        </p:nvSpPr>
        <p:spPr>
          <a:xfrm>
            <a:off x="548640" y="4343400"/>
            <a:ext cx="1463040" cy="1097280"/>
          </a:xfrm>
          <a:prstGeom prst="rect">
            <a:avLst/>
          </a:prstGeom>
          <a:noFill/>
          <a:ln/>
        </p:spPr>
        <p:txBody>
          <a:bodyPr wrap="square" lIns="0" tIns="0" rIns="0" bIns="0" rtlCol="0" anchor="ctr"/>
          <a:lstStyle/>
          <a:p>
            <a:pPr indent="0" marL="0">
              <a:buNone/>
            </a:pPr>
            <a:r>
              <a:rPr lang="en-US" sz="6000" b="1" dirty="0">
                <a:solidFill>
                  <a:srgbClr val="7A3F6C"/>
                </a:solidFill>
                <a:latin typeface="Cambria" pitchFamily="34" charset="0"/>
                <a:ea typeface="Cambria" pitchFamily="34" charset="-122"/>
                <a:cs typeface="Cambria" pitchFamily="34" charset="-120"/>
              </a:rPr>
              <a:t>1</a:t>
            </a:r>
            <a:endParaRPr lang="en-US" sz="6000" dirty="0"/>
          </a:p>
        </p:txBody>
      </p:sp>
      <p:sp>
        <p:nvSpPr>
          <p:cNvPr id="8" name="Text 6"/>
          <p:cNvSpPr txBox="1"/>
          <p:nvPr/>
        </p:nvSpPr>
        <p:spPr>
          <a:xfrm>
            <a:off x="2103120" y="4572000"/>
            <a:ext cx="3291840" cy="731520"/>
          </a:xfrm>
          <a:prstGeom prst="rect">
            <a:avLst/>
          </a:prstGeom>
          <a:noFill/>
          <a:ln/>
        </p:spPr>
        <p:txBody>
          <a:bodyPr wrap="square" lIns="635" tIns="635" rIns="635" bIns="635" rtlCol="0" anchor="t"/>
          <a:lstStyle/>
          <a:p>
            <a:pPr indent="0" marL="0">
              <a:buNone/>
            </a:pPr>
            <a:r>
              <a:rPr lang="en-US" sz="1600" dirty="0">
                <a:solidFill>
                  <a:schemeClr val="tx1"/>
                </a:solidFill>
              </a:rPr>
              <a:t>warning sign named honestly</a:t>
            </a:r>
            <a:endParaRPr lang="en-US" sz="1600" dirty="0"/>
          </a:p>
        </p:txBody>
      </p:sp>
      <p:sp>
        <p:nvSpPr>
          <p:cNvPr id="9" name="warncard"/>
          <p:cNvSpPr/>
          <p:nvPr/>
        </p:nvSpPr>
        <p:spPr>
          <a:xfrm>
            <a:off x="5943600" y="1371600"/>
            <a:ext cx="5669280" cy="3840480"/>
          </a:xfrm>
          <a:prstGeom prst="roundRect">
            <a:avLst>
              <a:gd name="adj" fmla="val 1905"/>
            </a:avLst>
          </a:prstGeom>
          <a:solidFill>
            <a:srgbClr val="F5EAD9"/>
          </a:solidFill>
          <a:ln w="12700">
            <a:solidFill>
              <a:srgbClr val="F5EAD9"/>
            </a:solidFill>
            <a:prstDash val="solid"/>
          </a:ln>
        </p:spPr>
      </p:sp>
      <p:sp>
        <p:nvSpPr>
          <p:cNvPr id="10" name="Text 8"/>
          <p:cNvSpPr txBox="1"/>
          <p:nvPr/>
        </p:nvSpPr>
        <p:spPr>
          <a:xfrm>
            <a:off x="6217920" y="1600200"/>
            <a:ext cx="5212080" cy="4114800"/>
          </a:xfrm>
          <a:prstGeom prst="rect">
            <a:avLst/>
          </a:prstGeom>
          <a:noFill/>
          <a:ln/>
        </p:spPr>
        <p:txBody>
          <a:bodyPr wrap="square" lIns="635" tIns="635" rIns="635" bIns="635" rtlCol="0" anchor="t"/>
          <a:lstStyle/>
          <a:p>
            <a:pPr indent="0" marL="0">
              <a:spcAft>
                <a:spcPts val="600"/>
              </a:spcAft>
              <a:buNone/>
            </a:pPr>
            <a:r>
              <a:rPr lang="en-US" sz="1900" b="1" dirty="0">
                <a:solidFill>
                  <a:srgbClr val="8A5410"/>
                </a:solidFill>
              </a:rPr>
              <a:t>My warning sign: working alone too long</a:t>
            </a:r>
            <a:endParaRPr lang="en-US" sz="1500" dirty="0"/>
          </a:p>
          <a:p>
            <a:pPr indent="0" marL="0">
              <a:spcAft>
                <a:spcPts val="600"/>
              </a:spcAft>
              <a:buNone/>
            </a:pPr>
            <a:r>
              <a:rPr lang="en-US" sz="1500" dirty="0">
                <a:solidFill>
                  <a:schemeClr val="tx1"/>
                </a:solidFill>
              </a:rPr>
              <a:t>I built almost everything alone and kept postponing the tests I had planned with other people.</a:t>
            </a:r>
            <a:endParaRPr lang="en-US" sz="1500" dirty="0"/>
          </a:p>
          <a:p>
            <a:pPr indent="0" marL="0">
              <a:spcAft>
                <a:spcPts val="600"/>
              </a:spcAft>
              <a:buNone/>
            </a:pPr>
            <a:r>
              <a:rPr lang="en-US" sz="800" dirty="0">
                <a:solidFill>
                  <a:schemeClr val="tx1"/>
                </a:solidFill>
              </a:rPr>
              <a:t> </a:t>
            </a:r>
            <a:endParaRPr lang="en-US" sz="1500" dirty="0"/>
          </a:p>
          <a:p>
            <a:pPr indent="0" marL="0">
              <a:spcAft>
                <a:spcPts val="600"/>
              </a:spcAft>
              <a:buNone/>
            </a:pPr>
            <a:r>
              <a:rPr lang="en-US" sz="1500" b="1" dirty="0">
                <a:solidFill>
                  <a:schemeClr val="tx1"/>
                </a:solidFill>
              </a:rPr>
              <a:t>How I realign</a:t>
            </a:r>
            <a:endParaRPr lang="en-US" sz="1500" dirty="0"/>
          </a:p>
          <a:p>
            <a:pPr marL="342900" indent="-342900">
              <a:spcAft>
                <a:spcPts val="600"/>
              </a:spcAft>
              <a:buSzPct val="100000"/>
              <a:buChar char="•"/>
            </a:pPr>
            <a:r>
              <a:rPr lang="en-US" sz="1500" dirty="0">
                <a:solidFill>
                  <a:schemeClr val="tx1"/>
                </a:solidFill>
              </a:rPr>
              <a:t>The two-hour rule: stuck for two hours means I ask someone</a:t>
            </a:r>
            <a:endParaRPr lang="en-US" sz="1500" dirty="0"/>
          </a:p>
          <a:p>
            <a:pPr marL="342900" indent="-342900">
              <a:spcAft>
                <a:spcPts val="600"/>
              </a:spcAft>
              <a:buSzPct val="100000"/>
              <a:buChar char="•"/>
            </a:pPr>
            <a:r>
              <a:rPr lang="en-US" sz="1500" dirty="0">
                <a:solidFill>
                  <a:schemeClr val="tx1"/>
                </a:solidFill>
              </a:rPr>
              <a:t>Show one unfinished piece of work to someone each week</a:t>
            </a:r>
            <a:endParaRPr lang="en-US" sz="1500" dirty="0"/>
          </a:p>
          <a:p>
            <a:pPr marL="342900" indent="-342900">
              <a:spcAft>
                <a:spcPts val="600"/>
              </a:spcAft>
              <a:buSzPct val="100000"/>
              <a:buChar char="•"/>
            </a:pPr>
            <a:r>
              <a:rPr lang="en-US" sz="1500" dirty="0">
                <a:solidFill>
                  <a:schemeClr val="tx1"/>
                </a:solidFill>
              </a:rPr>
              <a:t>Pray about the specific task, and ask what I am missing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Professional profile</a:t>
            </a:r>
            <a:endParaRPr lang="en-US" sz="3400" dirty="0"/>
          </a:p>
        </p:txBody>
      </p:sp>
      <p:sp>
        <p:nvSpPr>
          <p:cNvPr id="3" name="Text 1"/>
          <p:cNvSpPr txBox="1"/>
          <p:nvPr/>
        </p:nvSpPr>
        <p:spPr>
          <a:xfrm>
            <a:off x="548640" y="1417320"/>
            <a:ext cx="2011680" cy="822960"/>
          </a:xfrm>
          <a:prstGeom prst="rect">
            <a:avLst/>
          </a:prstGeom>
          <a:noFill/>
          <a:ln/>
        </p:spPr>
        <p:txBody>
          <a:bodyPr wrap="square" lIns="0" tIns="0" rIns="0" bIns="0" rtlCol="0" anchor="t"/>
          <a:lstStyle/>
          <a:p>
            <a:pPr indent="0" marL="0">
              <a:buNone/>
            </a:pPr>
            <a:r>
              <a:rPr lang="en-US" sz="1800" b="1" dirty="0">
                <a:solidFill>
                  <a:srgbClr val="1F6F7A"/>
                </a:solidFill>
                <a:latin typeface="Cambria" pitchFamily="34" charset="0"/>
                <a:ea typeface="Cambria" pitchFamily="34" charset="-122"/>
                <a:cs typeface="Cambria" pitchFamily="34" charset="-120"/>
              </a:rPr>
              <a:t>2014–2018</a:t>
            </a:r>
            <a:endParaRPr lang="en-US" sz="1800" dirty="0"/>
          </a:p>
        </p:txBody>
      </p:sp>
      <p:sp>
        <p:nvSpPr>
          <p:cNvPr id="4" name="tl0"/>
          <p:cNvSpPr/>
          <p:nvPr/>
        </p:nvSpPr>
        <p:spPr>
          <a:xfrm>
            <a:off x="2651760" y="1490472"/>
            <a:ext cx="228600" cy="228600"/>
          </a:xfrm>
          <a:prstGeom prst="ellipse">
            <a:avLst/>
          </a:prstGeom>
          <a:solidFill>
            <a:srgbClr val="1F6F7A"/>
          </a:solidFill>
          <a:ln w="12700">
            <a:solidFill>
              <a:srgbClr val="1F6F7A"/>
            </a:solidFill>
            <a:prstDash val="solid"/>
          </a:ln>
        </p:spPr>
      </p:sp>
      <p:sp>
        <p:nvSpPr>
          <p:cNvPr id="5" name="Text 3"/>
          <p:cNvSpPr txBox="1"/>
          <p:nvPr/>
        </p:nvSpPr>
        <p:spPr>
          <a:xfrm>
            <a:off x="3108960" y="1389888"/>
            <a:ext cx="8412480" cy="914400"/>
          </a:xfrm>
          <a:prstGeom prst="rect">
            <a:avLst/>
          </a:prstGeom>
          <a:noFill/>
          <a:ln/>
        </p:spPr>
        <p:txBody>
          <a:bodyPr wrap="square" lIns="635" tIns="635" rIns="635" bIns="635" rtlCol="0" anchor="t"/>
          <a:lstStyle/>
          <a:p>
            <a:pPr indent="0" marL="0">
              <a:buNone/>
            </a:pPr>
            <a:r>
              <a:rPr lang="en-US" sz="1700" b="1" dirty="0">
                <a:solidFill>
                  <a:schemeClr val="tx1"/>
                </a:solidFill>
              </a:rPr>
              <a:t>Network Administrator, SACIM Sarl (DR Congo)</a:t>
            </a:r>
            <a:endParaRPr lang="en-US" sz="1500" dirty="0"/>
          </a:p>
          <a:p>
            <a:pPr indent="0" marL="0">
              <a:buNone/>
            </a:pPr>
            <a:r>
              <a:rPr lang="en-US" sz="1500" dirty="0">
                <a:solidFill>
                  <a:srgbClr val="56646D"/>
                </a:solidFill>
              </a:rPr>
              <a:t>Kept an enterprise network available and supported users for four years</a:t>
            </a:r>
            <a:endParaRPr lang="en-US" sz="1500" dirty="0"/>
          </a:p>
        </p:txBody>
      </p:sp>
      <p:sp>
        <p:nvSpPr>
          <p:cNvPr id="6" name="Text 4"/>
          <p:cNvSpPr txBox="1"/>
          <p:nvPr/>
        </p:nvSpPr>
        <p:spPr>
          <a:xfrm>
            <a:off x="548640" y="2514600"/>
            <a:ext cx="2011680" cy="822960"/>
          </a:xfrm>
          <a:prstGeom prst="rect">
            <a:avLst/>
          </a:prstGeom>
          <a:noFill/>
          <a:ln/>
        </p:spPr>
        <p:txBody>
          <a:bodyPr wrap="square" lIns="0" tIns="0" rIns="0" bIns="0" rtlCol="0" anchor="t"/>
          <a:lstStyle/>
          <a:p>
            <a:pPr indent="0" marL="0">
              <a:buNone/>
            </a:pPr>
            <a:r>
              <a:rPr lang="en-US" sz="1800" b="1" dirty="0">
                <a:solidFill>
                  <a:srgbClr val="1F6F7A"/>
                </a:solidFill>
                <a:latin typeface="Cambria" pitchFamily="34" charset="0"/>
                <a:ea typeface="Cambria" pitchFamily="34" charset="-122"/>
                <a:cs typeface="Cambria" pitchFamily="34" charset="-120"/>
              </a:rPr>
              <a:t>2011–2016</a:t>
            </a:r>
            <a:endParaRPr lang="en-US" sz="1800" dirty="0"/>
          </a:p>
        </p:txBody>
      </p:sp>
      <p:sp>
        <p:nvSpPr>
          <p:cNvPr id="7" name="tl1"/>
          <p:cNvSpPr/>
          <p:nvPr/>
        </p:nvSpPr>
        <p:spPr>
          <a:xfrm>
            <a:off x="2651760" y="2587752"/>
            <a:ext cx="228600" cy="228600"/>
          </a:xfrm>
          <a:prstGeom prst="ellipse">
            <a:avLst/>
          </a:prstGeom>
          <a:solidFill>
            <a:srgbClr val="1F6F7A"/>
          </a:solidFill>
          <a:ln w="12700">
            <a:solidFill>
              <a:srgbClr val="1F6F7A"/>
            </a:solidFill>
            <a:prstDash val="solid"/>
          </a:ln>
        </p:spPr>
      </p:sp>
      <p:sp>
        <p:nvSpPr>
          <p:cNvPr id="8" name="Text 6"/>
          <p:cNvSpPr txBox="1"/>
          <p:nvPr/>
        </p:nvSpPr>
        <p:spPr>
          <a:xfrm>
            <a:off x="3108960" y="2487168"/>
            <a:ext cx="8412480" cy="914400"/>
          </a:xfrm>
          <a:prstGeom prst="rect">
            <a:avLst/>
          </a:prstGeom>
          <a:noFill/>
          <a:ln/>
        </p:spPr>
        <p:txBody>
          <a:bodyPr wrap="square" lIns="635" tIns="635" rIns="635" bIns="635" rtlCol="0" anchor="t"/>
          <a:lstStyle/>
          <a:p>
            <a:pPr indent="0" marL="0">
              <a:buNone/>
            </a:pPr>
            <a:r>
              <a:rPr lang="en-US" sz="1700" b="1" dirty="0">
                <a:solidFill>
                  <a:schemeClr val="tx1"/>
                </a:solidFill>
              </a:rPr>
              <a:t>Telecommunications and Networks studies, ISTIA</a:t>
            </a:r>
            <a:endParaRPr lang="en-US" sz="1500" dirty="0"/>
          </a:p>
          <a:p>
            <a:pPr indent="0" marL="0">
              <a:buNone/>
            </a:pPr>
            <a:r>
              <a:rPr lang="en-US" sz="1500" dirty="0">
                <a:solidFill>
                  <a:srgbClr val="56646D"/>
                </a:solidFill>
              </a:rPr>
              <a:t>Foundation in networks and telecommunications</a:t>
            </a:r>
            <a:endParaRPr lang="en-US" sz="1500" dirty="0"/>
          </a:p>
        </p:txBody>
      </p:sp>
      <p:sp>
        <p:nvSpPr>
          <p:cNvPr id="9" name="Text 7"/>
          <p:cNvSpPr txBox="1"/>
          <p:nvPr/>
        </p:nvSpPr>
        <p:spPr>
          <a:xfrm>
            <a:off x="548640" y="3611880"/>
            <a:ext cx="2011680" cy="822960"/>
          </a:xfrm>
          <a:prstGeom prst="rect">
            <a:avLst/>
          </a:prstGeom>
          <a:noFill/>
          <a:ln/>
        </p:spPr>
        <p:txBody>
          <a:bodyPr wrap="square" lIns="0" tIns="0" rIns="0" bIns="0" rtlCol="0" anchor="t"/>
          <a:lstStyle/>
          <a:p>
            <a:pPr indent="0" marL="0">
              <a:buNone/>
            </a:pPr>
            <a:r>
              <a:rPr lang="en-US" sz="1800" b="1" dirty="0">
                <a:solidFill>
                  <a:srgbClr val="1F6F7A"/>
                </a:solidFill>
                <a:latin typeface="Cambria" pitchFamily="34" charset="0"/>
                <a:ea typeface="Cambria" pitchFamily="34" charset="-122"/>
                <a:cs typeface="Cambria" pitchFamily="34" charset="-120"/>
              </a:rPr>
              <a:t>Dec 2025</a:t>
            </a:r>
            <a:endParaRPr lang="en-US" sz="1800" dirty="0"/>
          </a:p>
        </p:txBody>
      </p:sp>
      <p:sp>
        <p:nvSpPr>
          <p:cNvPr id="10" name="tl2"/>
          <p:cNvSpPr/>
          <p:nvPr/>
        </p:nvSpPr>
        <p:spPr>
          <a:xfrm>
            <a:off x="2651760" y="3685032"/>
            <a:ext cx="228600" cy="228600"/>
          </a:xfrm>
          <a:prstGeom prst="ellipse">
            <a:avLst/>
          </a:prstGeom>
          <a:solidFill>
            <a:srgbClr val="1F6F7A"/>
          </a:solidFill>
          <a:ln w="12700">
            <a:solidFill>
              <a:srgbClr val="1F6F7A"/>
            </a:solidFill>
            <a:prstDash val="solid"/>
          </a:ln>
        </p:spPr>
      </p:sp>
      <p:sp>
        <p:nvSpPr>
          <p:cNvPr id="11" name="Text 9"/>
          <p:cNvSpPr txBox="1"/>
          <p:nvPr/>
        </p:nvSpPr>
        <p:spPr>
          <a:xfrm>
            <a:off x="3108960" y="3584448"/>
            <a:ext cx="8412480" cy="914400"/>
          </a:xfrm>
          <a:prstGeom prst="rect">
            <a:avLst/>
          </a:prstGeom>
          <a:noFill/>
          <a:ln/>
        </p:spPr>
        <p:txBody>
          <a:bodyPr wrap="square" lIns="635" tIns="635" rIns="635" bIns="635" rtlCol="0" anchor="t"/>
          <a:lstStyle/>
          <a:p>
            <a:pPr indent="0" marL="0">
              <a:buNone/>
            </a:pPr>
            <a:r>
              <a:rPr lang="en-US" sz="1700" b="1" dirty="0">
                <a:solidFill>
                  <a:schemeClr val="tx1"/>
                </a:solidFill>
              </a:rPr>
              <a:t>Technical Support Engineer Certificate, Ensign College</a:t>
            </a:r>
            <a:endParaRPr lang="en-US" sz="1500" dirty="0"/>
          </a:p>
          <a:p>
            <a:pPr indent="0" marL="0">
              <a:buNone/>
            </a:pPr>
            <a:r>
              <a:rPr lang="en-US" sz="1500" dirty="0">
                <a:solidFill>
                  <a:srgbClr val="56646D"/>
                </a:solidFill>
              </a:rPr>
              <a:t>Support, troubleshooting, and documentation</a:t>
            </a:r>
            <a:endParaRPr lang="en-US" sz="1500" dirty="0"/>
          </a:p>
        </p:txBody>
      </p:sp>
      <p:sp>
        <p:nvSpPr>
          <p:cNvPr id="12" name="Text 10"/>
          <p:cNvSpPr txBox="1"/>
          <p:nvPr/>
        </p:nvSpPr>
        <p:spPr>
          <a:xfrm>
            <a:off x="548640" y="4709160"/>
            <a:ext cx="2011680" cy="822960"/>
          </a:xfrm>
          <a:prstGeom prst="rect">
            <a:avLst/>
          </a:prstGeom>
          <a:noFill/>
          <a:ln/>
        </p:spPr>
        <p:txBody>
          <a:bodyPr wrap="square" lIns="0" tIns="0" rIns="0" bIns="0" rtlCol="0" anchor="t"/>
          <a:lstStyle/>
          <a:p>
            <a:pPr indent="0" marL="0">
              <a:buNone/>
            </a:pPr>
            <a:r>
              <a:rPr lang="en-US" sz="1800" b="1" dirty="0">
                <a:solidFill>
                  <a:srgbClr val="1F6F7A"/>
                </a:solidFill>
                <a:latin typeface="Cambria" pitchFamily="34" charset="0"/>
                <a:ea typeface="Cambria" pitchFamily="34" charset="-122"/>
                <a:cs typeface="Cambria" pitchFamily="34" charset="-120"/>
              </a:rPr>
              <a:t>2026</a:t>
            </a:r>
            <a:endParaRPr lang="en-US" sz="1800" dirty="0"/>
          </a:p>
        </p:txBody>
      </p:sp>
      <p:sp>
        <p:nvSpPr>
          <p:cNvPr id="13" name="tl3"/>
          <p:cNvSpPr/>
          <p:nvPr/>
        </p:nvSpPr>
        <p:spPr>
          <a:xfrm>
            <a:off x="2651760" y="4782312"/>
            <a:ext cx="228600" cy="228600"/>
          </a:xfrm>
          <a:prstGeom prst="ellipse">
            <a:avLst/>
          </a:prstGeom>
          <a:solidFill>
            <a:srgbClr val="1F6F7A"/>
          </a:solidFill>
          <a:ln w="12700">
            <a:solidFill>
              <a:srgbClr val="1F6F7A"/>
            </a:solidFill>
            <a:prstDash val="solid"/>
          </a:ln>
        </p:spPr>
      </p:sp>
      <p:sp>
        <p:nvSpPr>
          <p:cNvPr id="14" name="Text 12"/>
          <p:cNvSpPr txBox="1"/>
          <p:nvPr/>
        </p:nvSpPr>
        <p:spPr>
          <a:xfrm>
            <a:off x="3108960" y="4681728"/>
            <a:ext cx="8412480" cy="914400"/>
          </a:xfrm>
          <a:prstGeom prst="rect">
            <a:avLst/>
          </a:prstGeom>
          <a:noFill/>
          <a:ln/>
        </p:spPr>
        <p:txBody>
          <a:bodyPr wrap="square" lIns="635" tIns="635" rIns="635" bIns="635" rtlCol="0" anchor="t"/>
          <a:lstStyle/>
          <a:p>
            <a:pPr indent="0" marL="0">
              <a:buNone/>
            </a:pPr>
            <a:r>
              <a:rPr lang="en-US" sz="1700" b="1" dirty="0">
                <a:solidFill>
                  <a:schemeClr val="tx1"/>
                </a:solidFill>
              </a:rPr>
              <a:t>IT 497 Capstone</a:t>
            </a:r>
            <a:endParaRPr lang="en-US" sz="1500" dirty="0"/>
          </a:p>
          <a:p>
            <a:pPr indent="0" marL="0">
              <a:buNone/>
            </a:pPr>
            <a:r>
              <a:rPr lang="en-US" sz="1500" dirty="0">
                <a:solidFill>
                  <a:srgbClr val="56646D"/>
                </a:solidFill>
              </a:rPr>
              <a:t>Python automation, testing, security, and accessible web design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Main project: safebackup, from claiming to proving</a:t>
            </a:r>
            <a:endParaRPr lang="en-US" sz="3400" dirty="0"/>
          </a:p>
        </p:txBody>
      </p:sp>
      <p:sp>
        <p:nvSpPr>
          <p:cNvPr id="3" name="stat0"/>
          <p:cNvSpPr/>
          <p:nvPr/>
        </p:nvSpPr>
        <p:spPr>
          <a:xfrm>
            <a:off x="548640" y="1417320"/>
            <a:ext cx="3520440" cy="1920240"/>
          </a:xfrm>
          <a:prstGeom prst="roundRect">
            <a:avLst>
              <a:gd name="adj" fmla="val 3810"/>
            </a:avLst>
          </a:prstGeom>
          <a:solidFill>
            <a:srgbClr val="EEF3F3"/>
          </a:solidFill>
          <a:ln w="12700">
            <a:solidFill>
              <a:srgbClr val="EEF3F3"/>
            </a:solidFill>
            <a:prstDash val="solid"/>
          </a:ln>
        </p:spPr>
      </p:sp>
      <p:sp>
        <p:nvSpPr>
          <p:cNvPr id="4" name="Text 2"/>
          <p:cNvSpPr txBox="1"/>
          <p:nvPr/>
        </p:nvSpPr>
        <p:spPr>
          <a:xfrm>
            <a:off x="548640" y="1508760"/>
            <a:ext cx="3520440" cy="1005840"/>
          </a:xfrm>
          <a:prstGeom prst="rect">
            <a:avLst/>
          </a:prstGeom>
          <a:noFill/>
          <a:ln/>
        </p:spPr>
        <p:txBody>
          <a:bodyPr wrap="square" lIns="0" tIns="0" rIns="0" bIns="0" rtlCol="0" anchor="ctr"/>
          <a:lstStyle/>
          <a:p>
            <a:pPr algn="ctr" indent="0" marL="0">
              <a:buNone/>
            </a:pPr>
            <a:r>
              <a:rPr lang="en-US" sz="4000" b="1" dirty="0">
                <a:solidFill>
                  <a:srgbClr val="1F6F7A"/>
                </a:solidFill>
                <a:latin typeface="Cambria" pitchFamily="34" charset="0"/>
                <a:ea typeface="Cambria" pitchFamily="34" charset="-122"/>
                <a:cs typeface="Cambria" pitchFamily="34" charset="-120"/>
              </a:rPr>
              <a:t>0 → 13</a:t>
            </a:r>
            <a:endParaRPr lang="en-US" sz="4000" dirty="0"/>
          </a:p>
        </p:txBody>
      </p:sp>
      <p:sp>
        <p:nvSpPr>
          <p:cNvPr id="5" name="Text 3"/>
          <p:cNvSpPr txBox="1"/>
          <p:nvPr/>
        </p:nvSpPr>
        <p:spPr>
          <a:xfrm>
            <a:off x="731520" y="2514600"/>
            <a:ext cx="3154680" cy="640080"/>
          </a:xfrm>
          <a:prstGeom prst="rect">
            <a:avLst/>
          </a:prstGeom>
          <a:noFill/>
          <a:ln/>
        </p:spPr>
        <p:txBody>
          <a:bodyPr wrap="square" lIns="0" tIns="0" rIns="0" bIns="0" rtlCol="0" anchor="t"/>
          <a:lstStyle/>
          <a:p>
            <a:pPr algn="ctr" indent="0" marL="0">
              <a:buNone/>
            </a:pPr>
            <a:r>
              <a:rPr lang="en-US" sz="1500" dirty="0">
                <a:solidFill>
                  <a:srgbClr val="56646D"/>
                </a:solidFill>
              </a:rPr>
              <a:t>automated tests</a:t>
            </a:r>
            <a:endParaRPr lang="en-US" sz="1500" dirty="0"/>
          </a:p>
        </p:txBody>
      </p:sp>
      <p:sp>
        <p:nvSpPr>
          <p:cNvPr id="6" name="stat1"/>
          <p:cNvSpPr/>
          <p:nvPr/>
        </p:nvSpPr>
        <p:spPr>
          <a:xfrm>
            <a:off x="4343400" y="1417320"/>
            <a:ext cx="3520440" cy="1920240"/>
          </a:xfrm>
          <a:prstGeom prst="roundRect">
            <a:avLst>
              <a:gd name="adj" fmla="val 3810"/>
            </a:avLst>
          </a:prstGeom>
          <a:solidFill>
            <a:srgbClr val="EEF3F3"/>
          </a:solidFill>
          <a:ln w="12700">
            <a:solidFill>
              <a:srgbClr val="EEF3F3"/>
            </a:solidFill>
            <a:prstDash val="solid"/>
          </a:ln>
        </p:spPr>
      </p:sp>
      <p:sp>
        <p:nvSpPr>
          <p:cNvPr id="7" name="Text 5"/>
          <p:cNvSpPr txBox="1"/>
          <p:nvPr/>
        </p:nvSpPr>
        <p:spPr>
          <a:xfrm>
            <a:off x="4343400" y="1508760"/>
            <a:ext cx="3520440" cy="1005840"/>
          </a:xfrm>
          <a:prstGeom prst="rect">
            <a:avLst/>
          </a:prstGeom>
          <a:noFill/>
          <a:ln/>
        </p:spPr>
        <p:txBody>
          <a:bodyPr wrap="square" lIns="0" tIns="0" rIns="0" bIns="0" rtlCol="0" anchor="ctr"/>
          <a:lstStyle/>
          <a:p>
            <a:pPr algn="ctr" indent="0" marL="0">
              <a:buNone/>
            </a:pPr>
            <a:r>
              <a:rPr lang="en-US" sz="4000" b="1" dirty="0">
                <a:solidFill>
                  <a:srgbClr val="8A5410"/>
                </a:solidFill>
                <a:latin typeface="Cambria" pitchFamily="34" charset="0"/>
                <a:ea typeface="Cambria" pitchFamily="34" charset="-122"/>
                <a:cs typeface="Cambria" pitchFamily="34" charset="-120"/>
              </a:rPr>
              <a:t>1 → 4</a:t>
            </a:r>
            <a:endParaRPr lang="en-US" sz="4000" dirty="0"/>
          </a:p>
        </p:txBody>
      </p:sp>
      <p:sp>
        <p:nvSpPr>
          <p:cNvPr id="8" name="Text 6"/>
          <p:cNvSpPr txBox="1"/>
          <p:nvPr/>
        </p:nvSpPr>
        <p:spPr>
          <a:xfrm>
            <a:off x="4526280" y="2514600"/>
            <a:ext cx="3154680" cy="640080"/>
          </a:xfrm>
          <a:prstGeom prst="rect">
            <a:avLst/>
          </a:prstGeom>
          <a:noFill/>
          <a:ln/>
        </p:spPr>
        <p:txBody>
          <a:bodyPr wrap="square" lIns="0" tIns="0" rIns="0" bIns="0" rtlCol="0" anchor="t"/>
          <a:lstStyle/>
          <a:p>
            <a:pPr algn="ctr" indent="0" marL="0">
              <a:buNone/>
            </a:pPr>
            <a:r>
              <a:rPr lang="en-US" sz="1500" dirty="0">
                <a:solidFill>
                  <a:srgbClr val="56646D"/>
                </a:solidFill>
              </a:rPr>
              <a:t>commands: backup, verify, restore, prune</a:t>
            </a:r>
            <a:endParaRPr lang="en-US" sz="1500" dirty="0"/>
          </a:p>
        </p:txBody>
      </p:sp>
      <p:sp>
        <p:nvSpPr>
          <p:cNvPr id="9" name="stat2"/>
          <p:cNvSpPr/>
          <p:nvPr/>
        </p:nvSpPr>
        <p:spPr>
          <a:xfrm>
            <a:off x="8138160" y="1417320"/>
            <a:ext cx="3520440" cy="1920240"/>
          </a:xfrm>
          <a:prstGeom prst="roundRect">
            <a:avLst>
              <a:gd name="adj" fmla="val 3810"/>
            </a:avLst>
          </a:prstGeom>
          <a:solidFill>
            <a:srgbClr val="EEF3F3"/>
          </a:solidFill>
          <a:ln w="12700">
            <a:solidFill>
              <a:srgbClr val="EEF3F3"/>
            </a:solidFill>
            <a:prstDash val="solid"/>
          </a:ln>
        </p:spPr>
      </p:sp>
      <p:sp>
        <p:nvSpPr>
          <p:cNvPr id="10" name="Text 8"/>
          <p:cNvSpPr txBox="1"/>
          <p:nvPr/>
        </p:nvSpPr>
        <p:spPr>
          <a:xfrm>
            <a:off x="8138160" y="1508760"/>
            <a:ext cx="3520440" cy="1005840"/>
          </a:xfrm>
          <a:prstGeom prst="rect">
            <a:avLst/>
          </a:prstGeom>
          <a:noFill/>
          <a:ln/>
        </p:spPr>
        <p:txBody>
          <a:bodyPr wrap="square" lIns="0" tIns="0" rIns="0" bIns="0" rtlCol="0" anchor="ctr"/>
          <a:lstStyle/>
          <a:p>
            <a:pPr algn="ctr" indent="0" marL="0">
              <a:buNone/>
            </a:pPr>
            <a:r>
              <a:rPr lang="en-US" sz="4000" b="1" dirty="0">
                <a:solidFill>
                  <a:srgbClr val="7A3F6C"/>
                </a:solidFill>
                <a:latin typeface="Cambria" pitchFamily="34" charset="0"/>
                <a:ea typeface="Cambria" pitchFamily="34" charset="-122"/>
                <a:cs typeface="Cambria" pitchFamily="34" charset="-120"/>
              </a:rPr>
              <a:t>Yes → No</a:t>
            </a:r>
            <a:endParaRPr lang="en-US" sz="4000" dirty="0"/>
          </a:p>
        </p:txBody>
      </p:sp>
      <p:sp>
        <p:nvSpPr>
          <p:cNvPr id="11" name="Text 9"/>
          <p:cNvSpPr txBox="1"/>
          <p:nvPr/>
        </p:nvSpPr>
        <p:spPr>
          <a:xfrm>
            <a:off x="8321040" y="2514600"/>
            <a:ext cx="3154680" cy="640080"/>
          </a:xfrm>
          <a:prstGeom prst="rect">
            <a:avLst/>
          </a:prstGeom>
          <a:noFill/>
          <a:ln/>
        </p:spPr>
        <p:txBody>
          <a:bodyPr wrap="square" lIns="0" tIns="0" rIns="0" bIns="0" rtlCol="0" anchor="t"/>
          <a:lstStyle/>
          <a:p>
            <a:pPr algn="ctr" indent="0" marL="0">
              <a:buNone/>
            </a:pPr>
            <a:r>
              <a:rPr lang="en-US" sz="1500" dirty="0">
                <a:solidFill>
                  <a:srgbClr val="56646D"/>
                </a:solidFill>
              </a:rPr>
              <a:t>secrets copied by default</a:t>
            </a:r>
            <a:endParaRPr lang="en-US" sz="1500" dirty="0"/>
          </a:p>
        </p:txBody>
      </p:sp>
      <p:sp>
        <p:nvSpPr>
          <p:cNvPr id="12" name="Text 10"/>
          <p:cNvSpPr txBox="1"/>
          <p:nvPr/>
        </p:nvSpPr>
        <p:spPr>
          <a:xfrm>
            <a:off x="548640" y="3657600"/>
            <a:ext cx="11064240" cy="2377440"/>
          </a:xfrm>
          <a:prstGeom prst="rect">
            <a:avLst/>
          </a:prstGeom>
          <a:noFill/>
          <a:ln/>
        </p:spPr>
        <p:txBody>
          <a:bodyPr wrap="square" lIns="635" tIns="635" rIns="635" bIns="635" rtlCol="0" anchor="t"/>
          <a:lstStyle/>
          <a:p>
            <a:pPr indent="0" marL="0">
              <a:spcAft>
                <a:spcPts val="600"/>
              </a:spcAft>
              <a:buNone/>
            </a:pPr>
            <a:r>
              <a:rPr lang="en-US" sz="1800" b="1" dirty="0">
                <a:solidFill>
                  <a:schemeClr val="tx1"/>
                </a:solidFill>
              </a:rPr>
              <a:t>What changed</a:t>
            </a:r>
            <a:endParaRPr lang="en-US" sz="1500" dirty="0"/>
          </a:p>
          <a:p>
            <a:pPr marL="342900" indent="-342900">
              <a:spcAft>
                <a:spcPts val="600"/>
              </a:spcAft>
              <a:buSzPct val="100000"/>
              <a:buChar char="•"/>
            </a:pPr>
            <a:r>
              <a:rPr lang="en-US" sz="1500" dirty="0">
                <a:solidFill>
                  <a:schemeClr val="tx1"/>
                </a:solidFill>
              </a:rPr>
              <a:t>Every file is SHA-256 hashed; "complete and verified" prints only when all hashes match</a:t>
            </a:r>
            <a:endParaRPr lang="en-US" sz="1500" dirty="0"/>
          </a:p>
          <a:p>
            <a:pPr marL="342900" indent="-342900">
              <a:spcAft>
                <a:spcPts val="600"/>
              </a:spcAft>
              <a:buSzPct val="100000"/>
              <a:buChar char="•"/>
            </a:pPr>
            <a:r>
              <a:rPr lang="en-US" sz="1500" dirty="0">
                <a:solidFill>
                  <a:schemeClr val="tx1"/>
                </a:solidFill>
              </a:rPr>
              <a:t>Atomic snapshots, safe restore, path-traversal protection, privacy-safe logs</a:t>
            </a:r>
            <a:endParaRPr lang="en-US" sz="1500" dirty="0"/>
          </a:p>
          <a:p>
            <a:pPr marL="342900" indent="-342900">
              <a:spcAft>
                <a:spcPts val="600"/>
              </a:spcAft>
              <a:buSzPct val="100000"/>
              <a:buChar char="•"/>
            </a:pPr>
            <a:r>
              <a:rPr lang="en-US" sz="1500" dirty="0">
                <a:solidFill>
                  <a:srgbClr val="8A5410"/>
                </a:solidFill>
              </a:rPr>
              <a:t>Faith-informed decision: an honest message is part of the product (Luke 16:10)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Ethics: what Equifax taught me</a:t>
            </a:r>
            <a:endParaRPr lang="en-US" sz="3400" dirty="0"/>
          </a:p>
        </p:txBody>
      </p:sp>
      <p:sp>
        <p:nvSpPr>
          <p:cNvPr id="3" name="eqcard"/>
          <p:cNvSpPr/>
          <p:nvPr/>
        </p:nvSpPr>
        <p:spPr>
          <a:xfrm>
            <a:off x="548640" y="1371600"/>
            <a:ext cx="4937760" cy="4572000"/>
          </a:xfrm>
          <a:prstGeom prst="roundRect">
            <a:avLst>
              <a:gd name="adj" fmla="val 1600"/>
            </a:avLst>
          </a:prstGeom>
          <a:solidFill>
            <a:srgbClr val="16404F"/>
          </a:solidFill>
          <a:ln w="12700">
            <a:solidFill>
              <a:srgbClr val="16404F"/>
            </a:solidFill>
            <a:prstDash val="solid"/>
          </a:ln>
        </p:spPr>
      </p:sp>
      <p:sp>
        <p:nvSpPr>
          <p:cNvPr id="4" name="Text 2"/>
          <p:cNvSpPr txBox="1"/>
          <p:nvPr/>
        </p:nvSpPr>
        <p:spPr>
          <a:xfrm>
            <a:off x="822960" y="1600200"/>
            <a:ext cx="4480560" cy="4206240"/>
          </a:xfrm>
          <a:prstGeom prst="rect">
            <a:avLst/>
          </a:prstGeom>
          <a:noFill/>
          <a:ln/>
        </p:spPr>
        <p:txBody>
          <a:bodyPr wrap="square" lIns="635" tIns="635" rIns="635" bIns="635" rtlCol="0" anchor="t"/>
          <a:lstStyle/>
          <a:p>
            <a:pPr indent="0" marL="0">
              <a:buNone/>
            </a:pPr>
            <a:r>
              <a:rPr lang="en-US" sz="2000" b="1" dirty="0">
                <a:solidFill>
                  <a:srgbClr val="F2C98A"/>
                </a:solidFill>
              </a:rPr>
              <a:t>The case</a:t>
            </a:r>
            <a:endParaRPr lang="en-US" sz="1500" dirty="0"/>
          </a:p>
          <a:p>
            <a:pPr indent="0" marL="0">
              <a:buNone/>
            </a:pPr>
            <a:r>
              <a:rPr lang="en-US" sz="1500" dirty="0">
                <a:solidFill>
                  <a:srgbClr val="FFFFFF"/>
                </a:solidFill>
              </a:rPr>
              <a:t>A known critical patch was not verified, about 147 million people were exposed, and public notice came about six weeks after detection (FTC, 2019).</a:t>
            </a:r>
            <a:endParaRPr lang="en-US" sz="1500" dirty="0"/>
          </a:p>
          <a:p>
            <a:pPr indent="0" marL="0">
              <a:buNone/>
            </a:pPr>
            <a:r>
              <a:rPr lang="en-US" sz="800" dirty="0">
                <a:solidFill>
                  <a:schemeClr val="tx1"/>
                </a:solidFill>
              </a:rPr>
              <a:t> </a:t>
            </a:r>
            <a:endParaRPr lang="en-US" sz="1500" dirty="0"/>
          </a:p>
          <a:p>
            <a:pPr indent="0" marL="0">
              <a:buNone/>
            </a:pPr>
            <a:r>
              <a:rPr lang="en-US" sz="2000" b="1" dirty="0">
                <a:solidFill>
                  <a:srgbClr val="F2C98A"/>
                </a:solidFill>
              </a:rPr>
              <a:t>My view</a:t>
            </a:r>
            <a:endParaRPr lang="en-US" sz="1500" dirty="0"/>
          </a:p>
          <a:p>
            <a:pPr indent="0" marL="0">
              <a:buNone/>
            </a:pPr>
            <a:r>
              <a:rPr lang="en-US" sz="1500" dirty="0">
                <a:solidFill>
                  <a:srgbClr val="FFFFFF"/>
                </a:solidFill>
              </a:rPr>
              <a:t>The failure was ownership and honesty more than technology. Ordinary people assumed someone else had it covered.</a:t>
            </a:r>
            <a:endParaRPr lang="en-US" sz="1500" dirty="0"/>
          </a:p>
        </p:txBody>
      </p:sp>
      <p:sp>
        <p:nvSpPr>
          <p:cNvPr id="5" name="sit0"/>
          <p:cNvSpPr/>
          <p:nvPr/>
        </p:nvSpPr>
        <p:spPr>
          <a:xfrm>
            <a:off x="5852160" y="1508760"/>
            <a:ext cx="548640" cy="548640"/>
          </a:xfrm>
          <a:prstGeom prst="ellipse">
            <a:avLst/>
          </a:prstGeom>
          <a:solidFill>
            <a:srgbClr val="1F6F7A"/>
          </a:solidFill>
          <a:ln w="12700">
            <a:solidFill>
              <a:srgbClr val="1F6F7A"/>
            </a:solidFill>
            <a:prstDash val="solid"/>
          </a:ln>
        </p:spPr>
      </p:sp>
      <p:sp>
        <p:nvSpPr>
          <p:cNvPr id="6" name="Text 4"/>
          <p:cNvSpPr txBox="1"/>
          <p:nvPr/>
        </p:nvSpPr>
        <p:spPr>
          <a:xfrm>
            <a:off x="5852160" y="1508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6583680" y="1417320"/>
            <a:ext cx="5029200" cy="1005840"/>
          </a:xfrm>
          <a:prstGeom prst="rect">
            <a:avLst/>
          </a:prstGeom>
          <a:noFill/>
          <a:ln/>
        </p:spPr>
        <p:txBody>
          <a:bodyPr wrap="square" lIns="635" tIns="635" rIns="635" bIns="635" rtlCol="0" anchor="t"/>
          <a:lstStyle/>
          <a:p>
            <a:pPr indent="0" marL="0">
              <a:buNone/>
            </a:pPr>
            <a:r>
              <a:rPr lang="en-US" sz="1500" b="1" dirty="0">
                <a:solidFill>
                  <a:schemeClr val="tx1"/>
                </a:solidFill>
              </a:rPr>
              <a:t>Asked to mark a patch "done" unverified</a:t>
            </a:r>
            <a:endParaRPr lang="en-US" sz="1500" dirty="0"/>
          </a:p>
          <a:p>
            <a:pPr indent="0" marL="0">
              <a:buNone/>
            </a:pPr>
            <a:r>
              <a:rPr lang="en-US" sz="1500" dirty="0">
                <a:solidFill>
                  <a:srgbClr val="56646D"/>
                </a:solidFill>
              </a:rPr>
              <a:t>"Applied, not yet verified," then check that day</a:t>
            </a:r>
            <a:endParaRPr lang="en-US" sz="1500" dirty="0"/>
          </a:p>
        </p:txBody>
      </p:sp>
      <p:sp>
        <p:nvSpPr>
          <p:cNvPr id="8" name="sit1"/>
          <p:cNvSpPr/>
          <p:nvPr/>
        </p:nvSpPr>
        <p:spPr>
          <a:xfrm>
            <a:off x="5852160" y="2651760"/>
            <a:ext cx="548640" cy="548640"/>
          </a:xfrm>
          <a:prstGeom prst="ellipse">
            <a:avLst/>
          </a:prstGeom>
          <a:solidFill>
            <a:srgbClr val="8A5410"/>
          </a:solidFill>
          <a:ln w="12700">
            <a:solidFill>
              <a:srgbClr val="8A5410"/>
            </a:solidFill>
            <a:prstDash val="solid"/>
          </a:ln>
        </p:spPr>
      </p:sp>
      <p:sp>
        <p:nvSpPr>
          <p:cNvPr id="9" name="Text 7"/>
          <p:cNvSpPr txBox="1"/>
          <p:nvPr/>
        </p:nvSpPr>
        <p:spPr>
          <a:xfrm>
            <a:off x="585216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0" name="Text 8"/>
          <p:cNvSpPr txBox="1"/>
          <p:nvPr/>
        </p:nvSpPr>
        <p:spPr>
          <a:xfrm>
            <a:off x="6583680" y="2560320"/>
            <a:ext cx="5029200" cy="1005840"/>
          </a:xfrm>
          <a:prstGeom prst="rect">
            <a:avLst/>
          </a:prstGeom>
          <a:noFill/>
          <a:ln/>
        </p:spPr>
        <p:txBody>
          <a:bodyPr wrap="square" lIns="635" tIns="635" rIns="635" bIns="635" rtlCol="0" anchor="t"/>
          <a:lstStyle/>
          <a:p>
            <a:pPr indent="0" marL="0">
              <a:buNone/>
            </a:pPr>
            <a:r>
              <a:rPr lang="en-US" sz="1500" b="1" dirty="0">
                <a:solidFill>
                  <a:schemeClr val="tx1"/>
                </a:solidFill>
              </a:rPr>
              <a:t>Can't patch in time</a:t>
            </a:r>
            <a:endParaRPr lang="en-US" sz="1500" dirty="0"/>
          </a:p>
          <a:p>
            <a:pPr indent="0" marL="0">
              <a:buNone/>
            </a:pPr>
            <a:r>
              <a:rPr lang="en-US" sz="1500" dirty="0">
                <a:solidFill>
                  <a:srgbClr val="56646D"/>
                </a:solidFill>
              </a:rPr>
              <a:t>Escalate in writing with a temporary protection</a:t>
            </a:r>
            <a:endParaRPr lang="en-US" sz="1500" dirty="0"/>
          </a:p>
        </p:txBody>
      </p:sp>
      <p:sp>
        <p:nvSpPr>
          <p:cNvPr id="11" name="sit2"/>
          <p:cNvSpPr/>
          <p:nvPr/>
        </p:nvSpPr>
        <p:spPr>
          <a:xfrm>
            <a:off x="5852160" y="3794760"/>
            <a:ext cx="548640" cy="548640"/>
          </a:xfrm>
          <a:prstGeom prst="ellipse">
            <a:avLst/>
          </a:prstGeom>
          <a:solidFill>
            <a:srgbClr val="7A3F6C"/>
          </a:solidFill>
          <a:ln w="12700">
            <a:solidFill>
              <a:srgbClr val="7A3F6C"/>
            </a:solidFill>
            <a:prstDash val="solid"/>
          </a:ln>
        </p:spPr>
      </p:sp>
      <p:sp>
        <p:nvSpPr>
          <p:cNvPr id="12" name="Text 10"/>
          <p:cNvSpPr txBox="1"/>
          <p:nvPr/>
        </p:nvSpPr>
        <p:spPr>
          <a:xfrm>
            <a:off x="5852160" y="3794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Text 11"/>
          <p:cNvSpPr txBox="1"/>
          <p:nvPr/>
        </p:nvSpPr>
        <p:spPr>
          <a:xfrm>
            <a:off x="6583680" y="3703320"/>
            <a:ext cx="5029200" cy="1005840"/>
          </a:xfrm>
          <a:prstGeom prst="rect">
            <a:avLst/>
          </a:prstGeom>
          <a:noFill/>
          <a:ln/>
        </p:spPr>
        <p:txBody>
          <a:bodyPr wrap="square" lIns="635" tIns="635" rIns="635" bIns="635" rtlCol="0" anchor="t"/>
          <a:lstStyle/>
          <a:p>
            <a:pPr indent="0" marL="0">
              <a:buNone/>
            </a:pPr>
            <a:r>
              <a:rPr lang="en-US" sz="1500" b="1" dirty="0">
                <a:solidFill>
                  <a:schemeClr val="tx1"/>
                </a:solidFill>
              </a:rPr>
              <a:t>Asked to delay telling users</a:t>
            </a:r>
            <a:endParaRPr lang="en-US" sz="1500" dirty="0"/>
          </a:p>
          <a:p>
            <a:pPr indent="0" marL="0">
              <a:buNone/>
            </a:pPr>
            <a:r>
              <a:rPr lang="en-US" sz="1500" dirty="0">
                <a:solidFill>
                  <a:srgbClr val="56646D"/>
                </a:solidFill>
              </a:rPr>
              <a:t>Short honest notice; never say something false</a:t>
            </a:r>
            <a:endParaRPr lang="en-US" sz="1500" dirty="0"/>
          </a:p>
        </p:txBody>
      </p:sp>
      <p:sp>
        <p:nvSpPr>
          <p:cNvPr id="14" name="sit3"/>
          <p:cNvSpPr/>
          <p:nvPr/>
        </p:nvSpPr>
        <p:spPr>
          <a:xfrm>
            <a:off x="5852160" y="4937760"/>
            <a:ext cx="548640" cy="548640"/>
          </a:xfrm>
          <a:prstGeom prst="ellipse">
            <a:avLst/>
          </a:prstGeom>
          <a:solidFill>
            <a:srgbClr val="1F6F7A"/>
          </a:solidFill>
          <a:ln w="12700">
            <a:solidFill>
              <a:srgbClr val="1F6F7A"/>
            </a:solidFill>
            <a:prstDash val="solid"/>
          </a:ln>
        </p:spPr>
      </p:sp>
      <p:sp>
        <p:nvSpPr>
          <p:cNvPr id="15" name="Text 13"/>
          <p:cNvSpPr txBox="1"/>
          <p:nvPr/>
        </p:nvSpPr>
        <p:spPr>
          <a:xfrm>
            <a:off x="5852160" y="4937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6" name="Text 14"/>
          <p:cNvSpPr txBox="1"/>
          <p:nvPr/>
        </p:nvSpPr>
        <p:spPr>
          <a:xfrm>
            <a:off x="6583680" y="4846320"/>
            <a:ext cx="5029200" cy="1005840"/>
          </a:xfrm>
          <a:prstGeom prst="rect">
            <a:avLst/>
          </a:prstGeom>
          <a:noFill/>
          <a:ln/>
        </p:spPr>
        <p:txBody>
          <a:bodyPr wrap="square" lIns="635" tIns="635" rIns="635" bIns="635" rtlCol="0" anchor="t"/>
          <a:lstStyle/>
          <a:p>
            <a:pPr indent="0" marL="0">
              <a:buNone/>
            </a:pPr>
            <a:r>
              <a:rPr lang="en-US" sz="1500" b="1" dirty="0">
                <a:solidFill>
                  <a:schemeClr val="tx1"/>
                </a:solidFill>
              </a:rPr>
              <a:t>I find my own mistake</a:t>
            </a:r>
            <a:endParaRPr lang="en-US" sz="1500" dirty="0"/>
          </a:p>
          <a:p>
            <a:pPr indent="0" marL="0">
              <a:buNone/>
            </a:pPr>
            <a:r>
              <a:rPr lang="en-US" sz="1500" dirty="0">
                <a:solidFill>
                  <a:srgbClr val="56646D"/>
                </a:solidFill>
              </a:rPr>
              <a:t>Report it right away, like safebackup's known limits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Designing for every visitor</a:t>
            </a:r>
            <a:endParaRPr lang="en-US" sz="3400" dirty="0"/>
          </a:p>
        </p:txBody>
      </p:sp>
      <p:graphicFrame>
        <p:nvGraphicFramePr>
          <p:cNvPr id="3" name="Chart 0" descr=""/>
          <p:cNvGraphicFramePr/>
          <p:nvPr/>
        </p:nvGraphicFramePr>
        <p:xfrm>
          <a:off x="548640" y="1371600"/>
          <a:ext cx="548640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0" y="1463040"/>
            <a:ext cx="5212080" cy="4389120"/>
          </a:xfrm>
          <a:prstGeom prst="rect">
            <a:avLst/>
          </a:prstGeom>
          <a:noFill/>
          <a:ln/>
        </p:spPr>
        <p:txBody>
          <a:bodyPr wrap="square" lIns="635" tIns="635" rIns="635" bIns="635" rtlCol="0" anchor="t"/>
          <a:lstStyle/>
          <a:p>
            <a:pPr indent="0" marL="0">
              <a:spcAft>
                <a:spcPts val="800"/>
              </a:spcAft>
              <a:buNone/>
            </a:pPr>
            <a:r>
              <a:rPr lang="en-US" sz="1800" b="1" dirty="0">
                <a:solidFill>
                  <a:schemeClr val="tx1"/>
                </a:solidFill>
              </a:rPr>
              <a:t>What testing found and fixed</a:t>
            </a:r>
            <a:endParaRPr lang="en-US" sz="1500" dirty="0"/>
          </a:p>
          <a:p>
            <a:pPr marL="342900" indent="-342900">
              <a:spcAft>
                <a:spcPts val="800"/>
              </a:spcAft>
              <a:buSzPct val="100000"/>
              <a:buChar char="•"/>
            </a:pPr>
            <a:r>
              <a:rPr lang="en-US" sz="1500" dirty="0">
                <a:solidFill>
                  <a:schemeClr val="tx1"/>
                </a:solidFill>
              </a:rPr>
              <a:t>6 of 10 menu links hidden on phones: now highlighted and scrollable</a:t>
            </a:r>
            <a:endParaRPr lang="en-US" sz="1500" dirty="0"/>
          </a:p>
          <a:p>
            <a:pPr marL="342900" indent="-342900">
              <a:spcAft>
                <a:spcPts val="800"/>
              </a:spcAft>
              <a:buSzPct val="100000"/>
              <a:buChar char="•"/>
            </a:pPr>
            <a:r>
              <a:rPr lang="en-US" sz="1500" dirty="0">
                <a:solidFill>
                  <a:schemeClr val="tx1"/>
                </a:solidFill>
              </a:rPr>
              <a:t>Low-contrast colours and tables you couldn't scroll with a keyboard</a:t>
            </a:r>
            <a:endParaRPr lang="en-US" sz="1500" dirty="0"/>
          </a:p>
          <a:p>
            <a:pPr marL="342900" indent="-342900">
              <a:spcAft>
                <a:spcPts val="800"/>
              </a:spcAft>
              <a:buSzPct val="100000"/>
              <a:buChar char="•"/>
            </a:pPr>
            <a:r>
              <a:rPr lang="en-US" sz="1500" dirty="0">
                <a:solidFill>
                  <a:schemeClr val="tx1"/>
                </a:solidFill>
              </a:rPr>
              <a:t>Embedded video and a mental-map diagram</a:t>
            </a:r>
            <a:endParaRPr lang="en-US" sz="1500" dirty="0"/>
          </a:p>
          <a:p>
            <a:pPr marL="342900" indent="-342900">
              <a:spcAft>
                <a:spcPts val="800"/>
              </a:spcAft>
              <a:buSzPct val="100000"/>
              <a:buChar char="•"/>
            </a:pPr>
            <a:r>
              <a:rPr lang="en-US" sz="1500" dirty="0">
                <a:solidFill>
                  <a:schemeClr val="tx1"/>
                </a:solidFill>
              </a:rPr>
              <a:t>My nephew: 5 of 5 tasks, ease 5/5, "the page is very long"</a:t>
            </a:r>
            <a:endParaRPr lang="en-US" sz="1500" dirty="0"/>
          </a:p>
          <a:p>
            <a:pPr marL="342900" indent="-342900">
              <a:spcAft>
                <a:spcPts val="800"/>
              </a:spcAft>
              <a:buSzPct val="100000"/>
              <a:buChar char="•"/>
            </a:pPr>
            <a:r>
              <a:rPr lang="en-US" sz="1500" b="1" dirty="0">
                <a:solidFill>
                  <a:srgbClr val="1F6F7A"/>
                </a:solidFill>
              </a:rPr>
              <a:t>Week 6 fix: page about 36% shorter on a phone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the portfolio matches my first goals</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657600"/>
                <a:gridCol w="5486400"/>
                <a:gridCol w="1920240"/>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 planned</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solidFill>
                      <a:srgbClr val="16404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happened</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solidFill>
                      <a:srgbClr val="16404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solidFill>
                      <a:srgbClr val="16404F"/>
                    </a:solidFill>
                  </a:tcPr>
                </a:tc>
              </a:tr>
              <a:tr h="548640">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Complete portfolio by Week 5</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Published, with three artifacts and reflections</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Met</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r>
              <a:tr h="548640">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Backup script with honest tests</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Verified tool with 13 passing tests</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Exceeded</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r>
              <a:tr h="548640">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Community website</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The portfolio itself became my web project</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b="1" dirty="0">
                          <a:solidFill>
                            <a:srgbClr val="1F6F7A"/>
                          </a:solidFill>
                          <a:latin typeface="Calibri" pitchFamily="34" charset="0"/>
                          <a:ea typeface="Calibri" pitchFamily="34" charset="-122"/>
                          <a:cs typeface="Calibri" pitchFamily="34" charset="-120"/>
                        </a:rPr>
                        <a:t>Changed</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r>
              <a:tr h="548640">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Security lab</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Planned; labelled "in progress"</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b="1" dirty="0">
                          <a:solidFill>
                            <a:srgbClr val="A55A12"/>
                          </a:solidFill>
                          <a:latin typeface="Calibri" pitchFamily="34" charset="0"/>
                          <a:ea typeface="Calibri" pitchFamily="34" charset="-122"/>
                          <a:cs typeface="Calibri" pitchFamily="34" charset="-120"/>
                        </a:rPr>
                        <a:t>In progress</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r>
              <a:tr h="548640">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Weekly learning record</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Weekly portfolio updates, not a separate journal</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b="1" dirty="0">
                          <a:solidFill>
                            <a:srgbClr val="A55A12"/>
                          </a:solidFill>
                          <a:latin typeface="Calibri" pitchFamily="34" charset="0"/>
                          <a:ea typeface="Calibri" pitchFamily="34" charset="-122"/>
                          <a:cs typeface="Calibri" pitchFamily="34" charset="-120"/>
                        </a:rPr>
                        <a:t>Partly met</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r>
              <a:tr h="548640">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Users test each project; a mentor</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dirty="0">
                          <a:solidFill>
                            <a:srgbClr val="18232B"/>
                          </a:solidFill>
                          <a:latin typeface="Calibri" pitchFamily="34" charset="0"/>
                          <a:ea typeface="Calibri" pitchFamily="34" charset="-122"/>
                          <a:cs typeface="Calibri" pitchFamily="34" charset="-120"/>
                        </a:rPr>
                        <a:t>Nephew and classmates tested; no mentor yet</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c>
                  <a:txBody>
                    <a:bodyPr/>
                    <a:lstStyle/>
                    <a:p>
                      <a:pPr indent="0" marL="0">
                        <a:buNone/>
                      </a:pPr>
                      <a:r>
                        <a:rPr lang="en-US" sz="1400" b="1" dirty="0">
                          <a:solidFill>
                            <a:srgbClr val="A55A12"/>
                          </a:solidFill>
                          <a:latin typeface="Calibri" pitchFamily="34" charset="0"/>
                          <a:ea typeface="Calibri" pitchFamily="34" charset="-122"/>
                          <a:cs typeface="Calibri" pitchFamily="34" charset="-120"/>
                        </a:rPr>
                        <a:t>Partly met</a:t>
                      </a:r>
                      <a:endParaRPr lang="en-US" sz="1400" dirty="0">
                        <a:latin typeface="Calibri" charset="0"/>
                        <a:ea typeface="Calibri" charset="0"/>
                        <a:cs typeface="Calibri" charset="0"/>
                      </a:endParaRPr>
                    </a:p>
                  </a:txBody>
                  <a:tcPr marL="73152" marR="73152" marT="73152" marB="73152" anchor="ctr">
                    <a:lnL w="9525" cap="flat" cmpd="sng" algn="ctr">
                      <a:solidFill>
                        <a:srgbClr val="D5DCDC"/>
                      </a:solidFill>
                      <a:prstDash val="solid"/>
                      <a:round/>
                      <a:headEnd type="none" w="med" len="med"/>
                      <a:tailEnd type="none" w="med" len="med"/>
                    </a:lnL>
                    <a:lnR w="9525" cap="flat" cmpd="sng" algn="ctr">
                      <a:solidFill>
                        <a:srgbClr val="D5DCDC"/>
                      </a:solidFill>
                      <a:prstDash val="solid"/>
                      <a:round/>
                      <a:headEnd type="none" w="med" len="med"/>
                      <a:tailEnd type="none" w="med" len="med"/>
                    </a:lnR>
                    <a:lnT w="9525" cap="flat" cmpd="sng" algn="ctr">
                      <a:solidFill>
                        <a:srgbClr val="D5DCDC"/>
                      </a:solidFill>
                      <a:prstDash val="solid"/>
                      <a:round/>
                      <a:headEnd type="none" w="med" len="med"/>
                      <a:tailEnd type="none" w="med" len="med"/>
                    </a:lnT>
                    <a:lnB w="9525" cap="flat" cmpd="sng" algn="ctr">
                      <a:solidFill>
                        <a:srgbClr val="D5DC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my goals changed, and why</a:t>
            </a:r>
            <a:endParaRPr lang="en-US" sz="3400" dirty="0"/>
          </a:p>
        </p:txBody>
      </p:sp>
      <p:sp>
        <p:nvSpPr>
          <p:cNvPr id="3" name="ch0"/>
          <p:cNvSpPr/>
          <p:nvPr/>
        </p:nvSpPr>
        <p:spPr>
          <a:xfrm>
            <a:off x="548640" y="1417320"/>
            <a:ext cx="548640" cy="548640"/>
          </a:xfrm>
          <a:prstGeom prst="ellipse">
            <a:avLst/>
          </a:prstGeom>
          <a:solidFill>
            <a:srgbClr val="1F6F7A"/>
          </a:solidFill>
          <a:ln w="12700">
            <a:solidFill>
              <a:srgbClr val="1F6F7A"/>
            </a:solidFill>
            <a:prstDash val="solid"/>
          </a:ln>
        </p:spPr>
      </p:sp>
      <p:sp>
        <p:nvSpPr>
          <p:cNvPr id="4" name="Text 2"/>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280160" y="1371600"/>
            <a:ext cx="4937760" cy="1097280"/>
          </a:xfrm>
          <a:prstGeom prst="rect">
            <a:avLst/>
          </a:prstGeom>
          <a:noFill/>
          <a:ln/>
        </p:spPr>
        <p:txBody>
          <a:bodyPr wrap="square" lIns="635" tIns="635" rIns="635" bIns="635" rtlCol="0" anchor="t"/>
          <a:lstStyle/>
          <a:p>
            <a:pPr indent="0" marL="0">
              <a:buNone/>
            </a:pPr>
            <a:r>
              <a:rPr lang="en-US" sz="1900" b="1" dirty="0">
                <a:solidFill>
                  <a:schemeClr val="tx1"/>
                </a:solidFill>
              </a:rPr>
              <a:t>From breadth to depth</a:t>
            </a:r>
            <a:endParaRPr lang="en-US" sz="1500" dirty="0"/>
          </a:p>
          <a:p>
            <a:pPr indent="0" marL="0">
              <a:buNone/>
            </a:pPr>
            <a:r>
              <a:rPr lang="en-US" sz="1500" dirty="0">
                <a:solidFill>
                  <a:srgbClr val="56646D"/>
                </a:solidFill>
              </a:rPr>
              <a:t>One tool I can stand behind instead of three shallow projects</a:t>
            </a:r>
            <a:endParaRPr lang="en-US" sz="1500" dirty="0"/>
          </a:p>
        </p:txBody>
      </p:sp>
      <p:sp>
        <p:nvSpPr>
          <p:cNvPr id="6" name="ch1"/>
          <p:cNvSpPr/>
          <p:nvPr/>
        </p:nvSpPr>
        <p:spPr>
          <a:xfrm>
            <a:off x="548640" y="2651760"/>
            <a:ext cx="548640" cy="548640"/>
          </a:xfrm>
          <a:prstGeom prst="ellipse">
            <a:avLst/>
          </a:prstGeom>
          <a:solidFill>
            <a:srgbClr val="8A5410"/>
          </a:solidFill>
          <a:ln w="12700">
            <a:solidFill>
              <a:srgbClr val="8A5410"/>
            </a:solidFill>
            <a:prstDash val="solid"/>
          </a:ln>
        </p:spPr>
      </p:sp>
      <p:sp>
        <p:nvSpPr>
          <p:cNvPr id="7" name="Text 5"/>
          <p:cNvSpPr txBox="1"/>
          <p:nvPr/>
        </p:nvSpPr>
        <p:spPr>
          <a:xfrm>
            <a:off x="54864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8" name="Text 6"/>
          <p:cNvSpPr txBox="1"/>
          <p:nvPr/>
        </p:nvSpPr>
        <p:spPr>
          <a:xfrm>
            <a:off x="1280160" y="2606040"/>
            <a:ext cx="4937760" cy="1097280"/>
          </a:xfrm>
          <a:prstGeom prst="rect">
            <a:avLst/>
          </a:prstGeom>
          <a:noFill/>
          <a:ln/>
        </p:spPr>
        <p:txBody>
          <a:bodyPr wrap="square" lIns="635" tIns="635" rIns="635" bIns="635" rtlCol="0" anchor="t"/>
          <a:lstStyle/>
          <a:p>
            <a:pPr indent="0" marL="0">
              <a:buNone/>
            </a:pPr>
            <a:r>
              <a:rPr lang="en-US" sz="1900" b="1" dirty="0">
                <a:solidFill>
                  <a:schemeClr val="tx1"/>
                </a:solidFill>
              </a:rPr>
              <a:t>The portfolio became a project</a:t>
            </a:r>
            <a:endParaRPr lang="en-US" sz="1500" dirty="0"/>
          </a:p>
          <a:p>
            <a:pPr indent="0" marL="0">
              <a:buNone/>
            </a:pPr>
            <a:r>
              <a:rPr lang="en-US" sz="1500" dirty="0">
                <a:solidFill>
                  <a:srgbClr val="56646D"/>
                </a:solidFill>
              </a:rPr>
              <a:t>Testing turned my values into accessible, working design</a:t>
            </a:r>
            <a:endParaRPr lang="en-US" sz="1500" dirty="0"/>
          </a:p>
        </p:txBody>
      </p:sp>
      <p:sp>
        <p:nvSpPr>
          <p:cNvPr id="9" name="ch2"/>
          <p:cNvSpPr/>
          <p:nvPr/>
        </p:nvSpPr>
        <p:spPr>
          <a:xfrm>
            <a:off x="548640" y="3886200"/>
            <a:ext cx="548640" cy="548640"/>
          </a:xfrm>
          <a:prstGeom prst="ellipse">
            <a:avLst/>
          </a:prstGeom>
          <a:solidFill>
            <a:srgbClr val="7A3F6C"/>
          </a:solidFill>
          <a:ln w="12700">
            <a:solidFill>
              <a:srgbClr val="7A3F6C"/>
            </a:solidFill>
            <a:prstDash val="solid"/>
          </a:ln>
        </p:spPr>
      </p:sp>
      <p:sp>
        <p:nvSpPr>
          <p:cNvPr id="10" name="Text 8"/>
          <p:cNvSpPr txBox="1"/>
          <p:nvPr/>
        </p:nvSpPr>
        <p:spPr>
          <a:xfrm>
            <a:off x="548640" y="38862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1" name="Text 9"/>
          <p:cNvSpPr txBox="1"/>
          <p:nvPr/>
        </p:nvSpPr>
        <p:spPr>
          <a:xfrm>
            <a:off x="1280160" y="3840480"/>
            <a:ext cx="4937760" cy="1097280"/>
          </a:xfrm>
          <a:prstGeom prst="rect">
            <a:avLst/>
          </a:prstGeom>
          <a:noFill/>
          <a:ln/>
        </p:spPr>
        <p:txBody>
          <a:bodyPr wrap="square" lIns="635" tIns="635" rIns="635" bIns="635" rtlCol="0" anchor="t"/>
          <a:lstStyle/>
          <a:p>
            <a:pPr indent="0" marL="0">
              <a:buNone/>
            </a:pPr>
            <a:r>
              <a:rPr lang="en-US" sz="1900" b="1" dirty="0">
                <a:solidFill>
                  <a:schemeClr val="tx1"/>
                </a:solidFill>
              </a:rPr>
              <a:t>From working hard to working with others</a:t>
            </a:r>
            <a:endParaRPr lang="en-US" sz="1500" dirty="0"/>
          </a:p>
          <a:p>
            <a:pPr indent="0" marL="0">
              <a:buNone/>
            </a:pPr>
            <a:r>
              <a:rPr lang="en-US" sz="1500" dirty="0">
                <a:solidFill>
                  <a:srgbClr val="56646D"/>
                </a:solidFill>
              </a:rPr>
              <a:t>The goals I missed all needed other people</a:t>
            </a:r>
            <a:endParaRPr lang="en-US" sz="1500" dirty="0"/>
          </a:p>
        </p:txBody>
      </p:sp>
      <p:sp>
        <p:nvSpPr>
          <p:cNvPr id="12" name="quotecard"/>
          <p:cNvSpPr/>
          <p:nvPr/>
        </p:nvSpPr>
        <p:spPr>
          <a:xfrm>
            <a:off x="6675120" y="1371600"/>
            <a:ext cx="4937760" cy="3566160"/>
          </a:xfrm>
          <a:prstGeom prst="roundRect">
            <a:avLst>
              <a:gd name="adj" fmla="val 2051"/>
            </a:avLst>
          </a:prstGeom>
          <a:solidFill>
            <a:srgbClr val="EFE2EC"/>
          </a:solidFill>
          <a:ln w="12700">
            <a:solidFill>
              <a:srgbClr val="EFE2EC"/>
            </a:solidFill>
            <a:prstDash val="solid"/>
          </a:ln>
        </p:spPr>
      </p:sp>
      <p:sp>
        <p:nvSpPr>
          <p:cNvPr id="13" name="Text 11"/>
          <p:cNvSpPr txBox="1"/>
          <p:nvPr/>
        </p:nvSpPr>
        <p:spPr>
          <a:xfrm>
            <a:off x="6949440" y="1600200"/>
            <a:ext cx="4480560" cy="4114800"/>
          </a:xfrm>
          <a:prstGeom prst="rect">
            <a:avLst/>
          </a:prstGeom>
          <a:noFill/>
          <a:ln/>
        </p:spPr>
        <p:txBody>
          <a:bodyPr wrap="square" lIns="635" tIns="635" rIns="635" bIns="635" rtlCol="0" anchor="t"/>
          <a:lstStyle/>
          <a:p>
            <a:pPr indent="0" marL="0">
              <a:spcAft>
                <a:spcPts val="1000"/>
              </a:spcAft>
              <a:buNone/>
            </a:pPr>
            <a:r>
              <a:rPr lang="en-US" sz="1800" b="1" dirty="0">
                <a:solidFill>
                  <a:srgbClr val="7A3F6C"/>
                </a:solidFill>
              </a:rPr>
              <a:t>This week's teachings</a:t>
            </a:r>
            <a:endParaRPr lang="en-US" sz="1500" dirty="0"/>
          </a:p>
          <a:p>
            <a:pPr marL="342900" indent="-342900">
              <a:spcAft>
                <a:spcPts val="1000"/>
              </a:spcAft>
              <a:buSzPct val="100000"/>
              <a:buChar char="•"/>
            </a:pPr>
            <a:r>
              <a:rPr lang="en-US" sz="1500" dirty="0">
                <a:solidFill>
                  <a:schemeClr val="tx1"/>
                </a:solidFill>
              </a:rPr>
              <a:t>Effort: the Lord honours real effort, and the rewards come through the climb (Hurley, 2024).</a:t>
            </a:r>
            <a:endParaRPr lang="en-US" sz="1500" dirty="0"/>
          </a:p>
          <a:p>
            <a:pPr marL="342900" indent="-342900">
              <a:spcAft>
                <a:spcPts val="1000"/>
              </a:spcAft>
              <a:buSzPct val="100000"/>
              <a:buChar char="•"/>
            </a:pPr>
            <a:r>
              <a:rPr lang="en-US" sz="1500" dirty="0">
                <a:solidFill>
                  <a:schemeClr val="tx1"/>
                </a:solidFill>
              </a:rPr>
              <a:t>The unexpected path: trust the Lord's timing when plans change (Morrison, 2024).</a:t>
            </a:r>
            <a:endParaRPr lang="en-US" sz="1500" dirty="0"/>
          </a:p>
          <a:p>
            <a:pPr marL="342900" indent="-342900">
              <a:spcAft>
                <a:spcPts val="1000"/>
              </a:spcAft>
              <a:buSzPct val="100000"/>
              <a:buChar char="•"/>
            </a:pPr>
            <a:r>
              <a:rPr lang="en-US" sz="1500" dirty="0">
                <a:solidFill>
                  <a:schemeClr val="tx1"/>
                </a:solidFill>
              </a:rPr>
              <a:t>Be doers of the word: plans matter only when we act and stay accountable (James 1:22).</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Peer reviews: giving and receiving</a:t>
            </a:r>
            <a:endParaRPr lang="en-US" sz="3400" dirty="0"/>
          </a:p>
        </p:txBody>
      </p:sp>
      <p:sp>
        <p:nvSpPr>
          <p:cNvPr id="3" name="rev0"/>
          <p:cNvSpPr/>
          <p:nvPr/>
        </p:nvSpPr>
        <p:spPr>
          <a:xfrm>
            <a:off x="548640" y="1371600"/>
            <a:ext cx="3520440" cy="3291840"/>
          </a:xfrm>
          <a:prstGeom prst="roundRect">
            <a:avLst>
              <a:gd name="adj" fmla="val 2222"/>
            </a:avLst>
          </a:prstGeom>
          <a:solidFill>
            <a:srgbClr val="E1EFEF"/>
          </a:solidFill>
          <a:ln w="12700">
            <a:solidFill>
              <a:srgbClr val="E1EFEF"/>
            </a:solidFill>
            <a:prstDash val="solid"/>
          </a:ln>
        </p:spPr>
      </p:sp>
      <p:sp>
        <p:nvSpPr>
          <p:cNvPr id="4" name="Text 2"/>
          <p:cNvSpPr txBox="1"/>
          <p:nvPr/>
        </p:nvSpPr>
        <p:spPr>
          <a:xfrm>
            <a:off x="777240" y="1600200"/>
            <a:ext cx="3063240" cy="4114800"/>
          </a:xfrm>
          <a:prstGeom prst="rect">
            <a:avLst/>
          </a:prstGeom>
          <a:noFill/>
          <a:ln/>
        </p:spPr>
        <p:txBody>
          <a:bodyPr wrap="square" lIns="635" tIns="635" rIns="635" bIns="635" rtlCol="0" anchor="t"/>
          <a:lstStyle/>
          <a:p>
            <a:pPr indent="0" marL="0">
              <a:buNone/>
            </a:pPr>
            <a:r>
              <a:rPr lang="en-US" sz="1700" b="1" dirty="0">
                <a:solidFill>
                  <a:srgbClr val="1F6F7A"/>
                </a:solidFill>
              </a:rPr>
              <a:t>Review 1: Sonny Klutsey</a:t>
            </a:r>
            <a:endParaRPr lang="en-US" sz="1500" dirty="0"/>
          </a:p>
          <a:p>
            <a:pPr indent="0" marL="0">
              <a:buNone/>
            </a:pPr>
            <a:r>
              <a:rPr lang="en-US" sz="1500" dirty="0">
                <a:solidFill>
                  <a:schemeClr val="tx1"/>
                </a:solidFill>
              </a:rPr>
              <a:t>Strong service project and a realistic privilege dilemma. Suggested a summary home page, résumé fixes, removing his public phone number, and an outside tester.</a:t>
            </a:r>
            <a:endParaRPr lang="en-US" sz="1500" dirty="0"/>
          </a:p>
        </p:txBody>
      </p:sp>
      <p:sp>
        <p:nvSpPr>
          <p:cNvPr id="5" name="rev1"/>
          <p:cNvSpPr/>
          <p:nvPr/>
        </p:nvSpPr>
        <p:spPr>
          <a:xfrm>
            <a:off x="4343400" y="1371600"/>
            <a:ext cx="3520440" cy="3291840"/>
          </a:xfrm>
          <a:prstGeom prst="roundRect">
            <a:avLst>
              <a:gd name="adj" fmla="val 2222"/>
            </a:avLst>
          </a:prstGeom>
          <a:solidFill>
            <a:srgbClr val="F5EAD9"/>
          </a:solidFill>
          <a:ln w="12700">
            <a:solidFill>
              <a:srgbClr val="F5EAD9"/>
            </a:solidFill>
            <a:prstDash val="solid"/>
          </a:ln>
        </p:spPr>
      </p:sp>
      <p:sp>
        <p:nvSpPr>
          <p:cNvPr id="6" name="Text 4"/>
          <p:cNvSpPr txBox="1"/>
          <p:nvPr/>
        </p:nvSpPr>
        <p:spPr>
          <a:xfrm>
            <a:off x="4572000" y="1600200"/>
            <a:ext cx="3063240" cy="4114800"/>
          </a:xfrm>
          <a:prstGeom prst="rect">
            <a:avLst/>
          </a:prstGeom>
          <a:noFill/>
          <a:ln/>
        </p:spPr>
        <p:txBody>
          <a:bodyPr wrap="square" lIns="635" tIns="635" rIns="635" bIns="635" rtlCol="0" anchor="t"/>
          <a:lstStyle/>
          <a:p>
            <a:pPr indent="0" marL="0">
              <a:buNone/>
            </a:pPr>
            <a:r>
              <a:rPr lang="en-US" sz="1700" b="1" dirty="0">
                <a:solidFill>
                  <a:srgbClr val="8A5410"/>
                </a:solidFill>
              </a:rPr>
              <a:t>Review 2: Kurtiss Johnson</a:t>
            </a:r>
            <a:endParaRPr lang="en-US" sz="1500" dirty="0"/>
          </a:p>
          <a:p>
            <a:pPr indent="0" marL="0">
              <a:buNone/>
            </a:pPr>
            <a:r>
              <a:rPr lang="en-US" sz="1500" dirty="0">
                <a:solidFill>
                  <a:schemeClr val="tx1"/>
                </a:solidFill>
              </a:rPr>
              <a:t>Very professional, with a real laptop dilemma. Suggested finishing an incomplete sentence, two résumé fixes, certification target dates, and evidence screenshots.</a:t>
            </a:r>
            <a:endParaRPr lang="en-US" sz="1500" dirty="0"/>
          </a:p>
        </p:txBody>
      </p:sp>
      <p:sp>
        <p:nvSpPr>
          <p:cNvPr id="7" name="recv"/>
          <p:cNvSpPr/>
          <p:nvPr/>
        </p:nvSpPr>
        <p:spPr>
          <a:xfrm>
            <a:off x="8138160" y="1371600"/>
            <a:ext cx="3474720" cy="3291840"/>
          </a:xfrm>
          <a:prstGeom prst="roundRect">
            <a:avLst>
              <a:gd name="adj" fmla="val 2222"/>
            </a:avLst>
          </a:prstGeom>
          <a:solidFill>
            <a:srgbClr val="EFE2EC"/>
          </a:solidFill>
          <a:ln w="12700">
            <a:solidFill>
              <a:srgbClr val="EFE2EC"/>
            </a:solidFill>
            <a:prstDash val="solid"/>
          </a:ln>
        </p:spPr>
      </p:sp>
      <p:sp>
        <p:nvSpPr>
          <p:cNvPr id="8" name="Text 6"/>
          <p:cNvSpPr txBox="1"/>
          <p:nvPr/>
        </p:nvSpPr>
        <p:spPr>
          <a:xfrm>
            <a:off x="8366760" y="1600200"/>
            <a:ext cx="3017520" cy="4114800"/>
          </a:xfrm>
          <a:prstGeom prst="rect">
            <a:avLst/>
          </a:prstGeom>
          <a:noFill/>
          <a:ln/>
        </p:spPr>
        <p:txBody>
          <a:bodyPr wrap="square" lIns="635" tIns="635" rIns="635" bIns="635" rtlCol="0" anchor="t"/>
          <a:lstStyle/>
          <a:p>
            <a:pPr indent="0" marL="0">
              <a:buNone/>
            </a:pPr>
            <a:r>
              <a:rPr lang="en-US" sz="1700" b="1" dirty="0">
                <a:solidFill>
                  <a:srgbClr val="7A3F6C"/>
                </a:solidFill>
              </a:rPr>
              <a:t>Feedback I received</a:t>
            </a:r>
            <a:endParaRPr lang="en-US" sz="1500" dirty="0"/>
          </a:p>
          <a:p>
            <a:pPr indent="0" marL="0">
              <a:buNone/>
            </a:pPr>
            <a:r>
              <a:rPr lang="en-US" sz="1500" dirty="0">
                <a:solidFill>
                  <a:schemeClr val="tx1"/>
                </a:solidFill>
              </a:rPr>
              <a:t>Nephew: the page is too long. Done: about 36% shorter, code moved to GitHub, portfolio map added.</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rgbClr val="56646D"/>
                </a:solidFill>
              </a:rPr>
              <a:t>Classmates' feedback and my changes are recorded on the portfolio's peer review report.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Where I'm going: my 12-month plan</a:t>
            </a:r>
            <a:endParaRPr lang="en-US" sz="3400" dirty="0"/>
          </a:p>
        </p:txBody>
      </p:sp>
      <p:sp>
        <p:nvSpPr>
          <p:cNvPr id="3" name="wig"/>
          <p:cNvSpPr/>
          <p:nvPr/>
        </p:nvSpPr>
        <p:spPr>
          <a:xfrm>
            <a:off x="548640" y="1325880"/>
            <a:ext cx="11064240" cy="914400"/>
          </a:xfrm>
          <a:prstGeom prst="roundRect">
            <a:avLst>
              <a:gd name="adj" fmla="val 8000"/>
            </a:avLst>
          </a:prstGeom>
          <a:solidFill>
            <a:srgbClr val="16404F"/>
          </a:solidFill>
          <a:ln w="12700">
            <a:solidFill>
              <a:srgbClr val="16404F"/>
            </a:solidFill>
            <a:prstDash val="solid"/>
          </a:ln>
        </p:spPr>
      </p:sp>
      <p:sp>
        <p:nvSpPr>
          <p:cNvPr id="4" name="Text 2"/>
          <p:cNvSpPr txBox="1"/>
          <p:nvPr/>
        </p:nvSpPr>
        <p:spPr>
          <a:xfrm>
            <a:off x="777240" y="1325880"/>
            <a:ext cx="10607040" cy="914400"/>
          </a:xfrm>
          <a:prstGeom prst="rect">
            <a:avLst/>
          </a:prstGeom>
          <a:noFill/>
          <a:ln/>
        </p:spPr>
        <p:txBody>
          <a:bodyPr wrap="square" lIns="0" tIns="0" rIns="0" bIns="0" rtlCol="0" anchor="ctr"/>
          <a:lstStyle/>
          <a:p>
            <a:pPr indent="0" marL="0">
              <a:buNone/>
            </a:pPr>
            <a:r>
              <a:rPr lang="en-US" sz="1600" b="1" dirty="0">
                <a:solidFill>
                  <a:srgbClr val="FFFFFF"/>
                </a:solidFill>
              </a:rPr>
              <a:t>Wildly important goal: by September 2027, work in network or systems administration where people can trust me with their systems, with the Lord at the centre of my week</a:t>
            </a:r>
            <a:endParaRPr lang="en-US" sz="1600" dirty="0"/>
          </a:p>
        </p:txBody>
      </p:sp>
      <p:sp>
        <p:nvSpPr>
          <p:cNvPr id="5" name="tline"/>
          <p:cNvSpPr/>
          <p:nvPr/>
        </p:nvSpPr>
        <p:spPr>
          <a:xfrm>
            <a:off x="822960" y="2971800"/>
            <a:ext cx="10515600" cy="0"/>
          </a:xfrm>
          <a:prstGeom prst="line">
            <a:avLst/>
          </a:prstGeom>
          <a:noFill/>
          <a:ln w="25400">
            <a:solidFill>
              <a:srgbClr val="D5DCDC"/>
            </a:solidFill>
            <a:prstDash val="solid"/>
          </a:ln>
        </p:spPr>
      </p:sp>
      <p:sp>
        <p:nvSpPr>
          <p:cNvPr id="6" name="pd0"/>
          <p:cNvSpPr/>
          <p:nvPr/>
        </p:nvSpPr>
        <p:spPr>
          <a:xfrm>
            <a:off x="685800" y="2834640"/>
            <a:ext cx="274320" cy="274320"/>
          </a:xfrm>
          <a:prstGeom prst="ellipse">
            <a:avLst/>
          </a:prstGeom>
          <a:solidFill>
            <a:srgbClr val="1F6F7A"/>
          </a:solidFill>
          <a:ln w="12700">
            <a:solidFill>
              <a:srgbClr val="FFFFFF"/>
            </a:solidFill>
            <a:prstDash val="solid"/>
          </a:ln>
        </p:spPr>
      </p:sp>
      <p:sp>
        <p:nvSpPr>
          <p:cNvPr id="7" name="Text 5"/>
          <p:cNvSpPr txBox="1"/>
          <p:nvPr/>
        </p:nvSpPr>
        <p:spPr>
          <a:xfrm>
            <a:off x="548640" y="3246120"/>
            <a:ext cx="2560320" cy="914400"/>
          </a:xfrm>
          <a:prstGeom prst="rect">
            <a:avLst/>
          </a:prstGeom>
          <a:noFill/>
          <a:ln/>
        </p:spPr>
        <p:txBody>
          <a:bodyPr wrap="square" lIns="635" tIns="635" rIns="635" bIns="635" rtlCol="0" anchor="t"/>
          <a:lstStyle/>
          <a:p>
            <a:pPr indent="0" marL="0">
              <a:buNone/>
            </a:pPr>
            <a:r>
              <a:rPr lang="en-US" sz="1600" b="1" dirty="0">
                <a:solidFill>
                  <a:srgbClr val="1F6F7A"/>
                </a:solidFill>
              </a:rPr>
              <a:t>Nov 2026</a:t>
            </a:r>
            <a:endParaRPr lang="en-US" sz="1500" dirty="0"/>
          </a:p>
          <a:p>
            <a:pPr indent="0" marL="0">
              <a:buNone/>
            </a:pPr>
            <a:r>
              <a:rPr lang="en-US" sz="1500" dirty="0">
                <a:solidFill>
                  <a:schemeClr val="tx1"/>
                </a:solidFill>
              </a:rPr>
              <a:t>Finish the home security lab</a:t>
            </a:r>
            <a:endParaRPr lang="en-US" sz="1500" dirty="0"/>
          </a:p>
        </p:txBody>
      </p:sp>
      <p:sp>
        <p:nvSpPr>
          <p:cNvPr id="8" name="pd1"/>
          <p:cNvSpPr/>
          <p:nvPr/>
        </p:nvSpPr>
        <p:spPr>
          <a:xfrm>
            <a:off x="3474720" y="2834640"/>
            <a:ext cx="274320" cy="274320"/>
          </a:xfrm>
          <a:prstGeom prst="ellipse">
            <a:avLst/>
          </a:prstGeom>
          <a:solidFill>
            <a:srgbClr val="8A5410"/>
          </a:solidFill>
          <a:ln w="12700">
            <a:solidFill>
              <a:srgbClr val="FFFFFF"/>
            </a:solidFill>
            <a:prstDash val="solid"/>
          </a:ln>
        </p:spPr>
      </p:sp>
      <p:sp>
        <p:nvSpPr>
          <p:cNvPr id="9" name="Text 7"/>
          <p:cNvSpPr txBox="1"/>
          <p:nvPr/>
        </p:nvSpPr>
        <p:spPr>
          <a:xfrm>
            <a:off x="3337560" y="3246120"/>
            <a:ext cx="2560320" cy="914400"/>
          </a:xfrm>
          <a:prstGeom prst="rect">
            <a:avLst/>
          </a:prstGeom>
          <a:noFill/>
          <a:ln/>
        </p:spPr>
        <p:txBody>
          <a:bodyPr wrap="square" lIns="635" tIns="635" rIns="635" bIns="635" rtlCol="0" anchor="t"/>
          <a:lstStyle/>
          <a:p>
            <a:pPr indent="0" marL="0">
              <a:buNone/>
            </a:pPr>
            <a:r>
              <a:rPr lang="en-US" sz="1600" b="1" dirty="0">
                <a:solidFill>
                  <a:srgbClr val="8A5410"/>
                </a:solidFill>
              </a:rPr>
              <a:t>Dec 2026</a:t>
            </a:r>
            <a:endParaRPr lang="en-US" sz="1500" dirty="0"/>
          </a:p>
          <a:p>
            <a:pPr indent="0" marL="0">
              <a:buNone/>
            </a:pPr>
            <a:r>
              <a:rPr lang="en-US" sz="1500" dirty="0">
                <a:solidFill>
                  <a:schemeClr val="tx1"/>
                </a:solidFill>
              </a:rPr>
              <a:t>Find an IT mentor; meet monthly</a:t>
            </a:r>
            <a:endParaRPr lang="en-US" sz="1500" dirty="0"/>
          </a:p>
        </p:txBody>
      </p:sp>
      <p:sp>
        <p:nvSpPr>
          <p:cNvPr id="10" name="pd2"/>
          <p:cNvSpPr/>
          <p:nvPr/>
        </p:nvSpPr>
        <p:spPr>
          <a:xfrm>
            <a:off x="6263640" y="2834640"/>
            <a:ext cx="274320" cy="274320"/>
          </a:xfrm>
          <a:prstGeom prst="ellipse">
            <a:avLst/>
          </a:prstGeom>
          <a:solidFill>
            <a:srgbClr val="7A3F6C"/>
          </a:solidFill>
          <a:ln w="12700">
            <a:solidFill>
              <a:srgbClr val="FFFFFF"/>
            </a:solidFill>
            <a:prstDash val="solid"/>
          </a:ln>
        </p:spPr>
      </p:sp>
      <p:sp>
        <p:nvSpPr>
          <p:cNvPr id="11" name="Text 9"/>
          <p:cNvSpPr txBox="1"/>
          <p:nvPr/>
        </p:nvSpPr>
        <p:spPr>
          <a:xfrm>
            <a:off x="6126480" y="3246120"/>
            <a:ext cx="2560320" cy="914400"/>
          </a:xfrm>
          <a:prstGeom prst="rect">
            <a:avLst/>
          </a:prstGeom>
          <a:noFill/>
          <a:ln/>
        </p:spPr>
        <p:txBody>
          <a:bodyPr wrap="square" lIns="635" tIns="635" rIns="635" bIns="635" rtlCol="0" anchor="t"/>
          <a:lstStyle/>
          <a:p>
            <a:pPr indent="0" marL="0">
              <a:buNone/>
            </a:pPr>
            <a:r>
              <a:rPr lang="en-US" sz="1600" b="1" dirty="0">
                <a:solidFill>
                  <a:srgbClr val="7A3F6C"/>
                </a:solidFill>
              </a:rPr>
              <a:t>Jan 2027</a:t>
            </a:r>
            <a:endParaRPr lang="en-US" sz="1500" dirty="0"/>
          </a:p>
          <a:p>
            <a:pPr indent="0" marL="0">
              <a:buNone/>
            </a:pPr>
            <a:r>
              <a:rPr lang="en-US" sz="1500" dirty="0">
                <a:solidFill>
                  <a:schemeClr val="tx1"/>
                </a:solidFill>
              </a:rPr>
              <a:t>safebackup v3 with encryption</a:t>
            </a:r>
            <a:endParaRPr lang="en-US" sz="1500" dirty="0"/>
          </a:p>
        </p:txBody>
      </p:sp>
      <p:sp>
        <p:nvSpPr>
          <p:cNvPr id="12" name="pd3"/>
          <p:cNvSpPr/>
          <p:nvPr/>
        </p:nvSpPr>
        <p:spPr>
          <a:xfrm>
            <a:off x="9052560" y="2834640"/>
            <a:ext cx="274320" cy="274320"/>
          </a:xfrm>
          <a:prstGeom prst="ellipse">
            <a:avLst/>
          </a:prstGeom>
          <a:solidFill>
            <a:srgbClr val="1F6F7A"/>
          </a:solidFill>
          <a:ln w="12700">
            <a:solidFill>
              <a:srgbClr val="FFFFFF"/>
            </a:solidFill>
            <a:prstDash val="solid"/>
          </a:ln>
        </p:spPr>
      </p:sp>
      <p:sp>
        <p:nvSpPr>
          <p:cNvPr id="13" name="Text 11"/>
          <p:cNvSpPr txBox="1"/>
          <p:nvPr/>
        </p:nvSpPr>
        <p:spPr>
          <a:xfrm>
            <a:off x="8915400" y="3246120"/>
            <a:ext cx="2560320" cy="914400"/>
          </a:xfrm>
          <a:prstGeom prst="rect">
            <a:avLst/>
          </a:prstGeom>
          <a:noFill/>
          <a:ln/>
        </p:spPr>
        <p:txBody>
          <a:bodyPr wrap="square" lIns="635" tIns="635" rIns="635" bIns="635" rtlCol="0" anchor="t"/>
          <a:lstStyle/>
          <a:p>
            <a:pPr indent="0" marL="0">
              <a:buNone/>
            </a:pPr>
            <a:r>
              <a:rPr lang="en-US" sz="1600" b="1" dirty="0">
                <a:solidFill>
                  <a:srgbClr val="1F6F7A"/>
                </a:solidFill>
              </a:rPr>
              <a:t>Mar 2027</a:t>
            </a:r>
            <a:endParaRPr lang="en-US" sz="1500" dirty="0"/>
          </a:p>
          <a:p>
            <a:pPr indent="0" marL="0">
              <a:buNone/>
            </a:pPr>
            <a:r>
              <a:rPr lang="en-US" sz="1500" dirty="0">
                <a:solidFill>
                  <a:schemeClr val="tx1"/>
                </a:solidFill>
              </a:rPr>
              <a:t>CompTIA Network+ certification</a:t>
            </a:r>
            <a:endParaRPr lang="en-US" sz="1500" dirty="0"/>
          </a:p>
        </p:txBody>
      </p:sp>
      <p:sp>
        <p:nvSpPr>
          <p:cNvPr id="14" name="Text 12"/>
          <p:cNvSpPr txBox="1"/>
          <p:nvPr/>
        </p:nvSpPr>
        <p:spPr>
          <a:xfrm>
            <a:off x="548640" y="4572000"/>
            <a:ext cx="11064240" cy="731520"/>
          </a:xfrm>
          <a:prstGeom prst="rect">
            <a:avLst/>
          </a:prstGeom>
          <a:noFill/>
          <a:ln/>
        </p:spPr>
        <p:txBody>
          <a:bodyPr wrap="square" lIns="635" tIns="635" rIns="635" bIns="635" rtlCol="0" anchor="t"/>
          <a:lstStyle/>
          <a:p>
            <a:pPr indent="0" marL="0">
              <a:buNone/>
            </a:pPr>
            <a:r>
              <a:rPr lang="en-US" sz="1600" b="1" dirty="0">
                <a:solidFill>
                  <a:schemeClr val="tx1"/>
                </a:solidFill>
              </a:rPr>
              <a:t>Every day: </a:t>
            </a:r>
            <a:pPr indent="0" marL="0">
              <a:buNone/>
            </a:pPr>
            <a:r>
              <a:rPr lang="en-US" sz="1600" dirty="0">
                <a:solidFill>
                  <a:schemeClr val="tx1"/>
                </a:solidFill>
              </a:rPr>
              <a:t>10 minutes of prayer and scripture first.  </a:t>
            </a:r>
            <a:pPr indent="0" marL="0">
              <a:buNone/>
            </a:pPr>
            <a:r>
              <a:rPr lang="en-US" sz="1600" b="1" dirty="0">
                <a:solidFill>
                  <a:schemeClr val="tx1"/>
                </a:solidFill>
              </a:rPr>
              <a:t>Every month: </a:t>
            </a:r>
            <a:pPr indent="0" marL="0">
              <a:buNone/>
            </a:pPr>
            <a:r>
              <a:rPr lang="en-US" sz="1600" dirty="0">
                <a:solidFill>
                  <a:schemeClr val="tx1"/>
                </a:solidFill>
              </a:rPr>
              <a:t>serve one person with my skills.  </a:t>
            </a:r>
            <a:pPr indent="0" marL="0">
              <a:buNone/>
            </a:pPr>
            <a:r>
              <a:rPr lang="en-US" sz="1600" b="1" dirty="0">
                <a:solidFill>
                  <a:schemeClr val="tx1"/>
                </a:solidFill>
              </a:rPr>
              <a:t>Every Sunday: </a:t>
            </a:r>
            <a:pPr indent="0" marL="0">
              <a:buNone/>
            </a:pPr>
            <a:r>
              <a:rPr lang="en-US" sz="1600" dirty="0">
                <a:solidFill>
                  <a:schemeClr val="tx1"/>
                </a:solidFill>
              </a:rPr>
              <a:t>return and report on my scoreboard (D&amp;C 72:3).</a:t>
            </a:r>
            <a:endParaRPr lang="en-US" sz="1600" dirty="0"/>
          </a:p>
        </p:txBody>
      </p:sp>
      <p:sp>
        <p:nvSpPr>
          <p:cNvPr id="15" name="Text 13"/>
          <p:cNvSpPr txBox="1"/>
          <p:nvPr/>
        </p:nvSpPr>
        <p:spPr>
          <a:xfrm>
            <a:off x="548640" y="5532120"/>
            <a:ext cx="11064240" cy="457200"/>
          </a:xfrm>
          <a:prstGeom prst="rect">
            <a:avLst/>
          </a:prstGeom>
          <a:noFill/>
          <a:ln/>
        </p:spPr>
        <p:txBody>
          <a:bodyPr wrap="square" lIns="635" tIns="635" rIns="635" bIns="635" rtlCol="0" anchor="t"/>
          <a:lstStyle/>
          <a:p>
            <a:pPr indent="0" marL="0">
              <a:buNone/>
            </a:pPr>
            <a:r>
              <a:rPr lang="en-US" sz="1800" b="1" dirty="0">
                <a:solidFill>
                  <a:srgbClr val="1F6F7A"/>
                </a:solidFill>
                <a:latin typeface="Cambria" pitchFamily="34" charset="0"/>
                <a:ea typeface="Cambria" pitchFamily="34" charset="-122"/>
                <a:cs typeface="Cambria" pitchFamily="34" charset="-120"/>
              </a:rPr>
              <a:t>Thank you. gki12.github.io/it497-portfolio</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6D"/>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ope">
  <a:themeElements>
    <a:clrScheme name="Rope">
      <a:dk1>
        <a:srgbClr val="18232B"/>
      </a:dk1>
      <a:lt1>
        <a:srgbClr val="FFFFFF"/>
      </a:lt1>
      <a:dk2>
        <a:srgbClr val="16404F"/>
      </a:dk2>
      <a:lt2>
        <a:srgbClr val="EEF3F3"/>
      </a:lt2>
      <a:accent1>
        <a:srgbClr val="1F6F7A"/>
      </a:accent1>
      <a:accent2>
        <a:srgbClr val="8A5410"/>
      </a:accent2>
      <a:accent3>
        <a:srgbClr val="7A3F6C"/>
      </a:accent3>
      <a:accent4>
        <a:srgbClr val="2E7D4F"/>
      </a:accent4>
      <a:accent5>
        <a:srgbClr val="A55A12"/>
      </a:accent5>
      <a:accent6>
        <a:srgbClr val="56646D"/>
      </a:accent6>
      <a:hlink>
        <a:srgbClr val="1F5F74"/>
      </a:hlink>
      <a:folHlink>
        <a:srgbClr val="7A3F6C"/>
      </a:folHlink>
    </a:clrScheme>
    <a:fontScheme name="Rop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497 Final Portfolio Presentation</dc:title>
  <dc:subject>PptxGenJS Presentation</dc:subject>
  <dc:creator>Gaston Kasongo</dc:creator>
  <cp:lastModifiedBy>Gaston Kasongo</cp:lastModifiedBy>
  <cp:revision>1</cp:revision>
  <dcterms:created xsi:type="dcterms:W3CDTF">2026-10-05T23:35:30Z</dcterms:created>
  <dcterms:modified xsi:type="dcterms:W3CDTF">2026-10-05T23:35:30Z</dcterms:modified>
</cp:coreProperties>
</file>